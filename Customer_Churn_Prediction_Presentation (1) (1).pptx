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6ff8237eb3949c2" /><Relationship Type="http://schemas.openxmlformats.org/officeDocument/2006/relationships/extended-properties" Target="/docProps/app.xml" Id="Rc4f351000b1c4d3e" /><Relationship Type="http://schemas.openxmlformats.org/officeDocument/2006/relationships/officeDocument" Target="/ppt/presentation.xml" Id="R99070c2b761b45ff" /></Relationships>
</file>

<file path=ppt/presentation.xml><?xml version="1.0" encoding="utf-8"?>
<p:presentation xmlns:p="http://schemas.openxmlformats.org/presentationml/2006/main">
  <p:sldMasterIdLst>
    <p:sldMasterId xmlns:r="http://schemas.openxmlformats.org/officeDocument/2006/relationships" id="2147483648" r:id="R81fb578772ac44ab"/>
  </p:sldMasterIdLst>
  <p:notesMasterIdLst>
    <p:notesMasterId xmlns:r="http://schemas.openxmlformats.org/officeDocument/2006/relationships" r:id="R7a7e9c7e941e415d"/>
  </p:notesMasterIdLst>
  <p:sldIdLst>
    <p:sldId xmlns:r="http://schemas.openxmlformats.org/officeDocument/2006/relationships" id="256" r:id="R1c9f0ae408a348dc"/>
    <p:sldId xmlns:r="http://schemas.openxmlformats.org/officeDocument/2006/relationships" id="257" r:id="Rf0a7dbb5e6bf4e7d"/>
    <p:sldId xmlns:r="http://schemas.openxmlformats.org/officeDocument/2006/relationships" id="258" r:id="Rf7ef4346d8724ea5"/>
    <p:sldId xmlns:r="http://schemas.openxmlformats.org/officeDocument/2006/relationships" id="259" r:id="R611c821b60e24f81"/>
    <p:sldId xmlns:r="http://schemas.openxmlformats.org/officeDocument/2006/relationships" id="260" r:id="Rf1159d360b8f472e"/>
    <p:sldId xmlns:r="http://schemas.openxmlformats.org/officeDocument/2006/relationships" id="261" r:id="R2e8d9251e9874acf"/>
    <p:sldId xmlns:r="http://schemas.openxmlformats.org/officeDocument/2006/relationships" id="262" r:id="Re59a8f75c60e4280"/>
    <p:sldId xmlns:r="http://schemas.openxmlformats.org/officeDocument/2006/relationships" id="263" r:id="R785bd145957549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4a845210eb497d" /><Relationship Type="http://schemas.openxmlformats.org/officeDocument/2006/relationships/slideMaster" Target="/ppt/slideMasters/slideMaster1.xml" Id="R81fb578772ac44ab" /><Relationship Type="http://schemas.openxmlformats.org/officeDocument/2006/relationships/notesMaster" Target="/ppt/notesMasters/notesMaster1.xml" Id="R7a7e9c7e941e415d" /><Relationship Type="http://schemas.openxmlformats.org/officeDocument/2006/relationships/presProps" Target="/ppt/presProps.xml" Id="R2833ec592d41412e" /><Relationship Type="http://schemas.openxmlformats.org/officeDocument/2006/relationships/tableStyles" Target="/ppt/tableStyles.xml" Id="R66184adbd3a5499c" /><Relationship Type="http://schemas.openxmlformats.org/officeDocument/2006/relationships/slide" Target="/ppt/slides/slide1.xml" Id="R1c9f0ae408a348dc" /><Relationship Type="http://schemas.openxmlformats.org/officeDocument/2006/relationships/slide" Target="/ppt/slides/slide2.xml" Id="Rf0a7dbb5e6bf4e7d" /><Relationship Type="http://schemas.openxmlformats.org/officeDocument/2006/relationships/slide" Target="/ppt/slides/slide3.xml" Id="Rf7ef4346d8724ea5" /><Relationship Type="http://schemas.openxmlformats.org/officeDocument/2006/relationships/slide" Target="/ppt/slides/slide4.xml" Id="R611c821b60e24f81" /><Relationship Type="http://schemas.openxmlformats.org/officeDocument/2006/relationships/slide" Target="/ppt/slides/slide5.xml" Id="Rf1159d360b8f472e" /><Relationship Type="http://schemas.openxmlformats.org/officeDocument/2006/relationships/slide" Target="/ppt/slides/slide6.xml" Id="R2e8d9251e9874acf" /><Relationship Type="http://schemas.openxmlformats.org/officeDocument/2006/relationships/slide" Target="/ppt/slides/slide7.xml" Id="Re59a8f75c60e4280" /><Relationship Type="http://schemas.openxmlformats.org/officeDocument/2006/relationships/slide" Target="/ppt/slides/slide8.xml" Id="R785bd145957549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a946d8627e43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2f44da3093452f" /><Relationship Type="http://schemas.openxmlformats.org/officeDocument/2006/relationships/notesMaster" Target="/ppt/notesMasters/notesMaster1.xml" Id="Rebbc1525ac834e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3e8b6cec1d4b1a" /><Relationship Type="http://schemas.openxmlformats.org/officeDocument/2006/relationships/notesMaster" Target="/ppt/notesMasters/notesMaster1.xml" Id="Rbcac38c9af6c4f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03a4510aaf4ac9" /><Relationship Type="http://schemas.openxmlformats.org/officeDocument/2006/relationships/notesMaster" Target="/ppt/notesMasters/notesMaster1.xml" Id="R47c2e6817b2841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5653d358264419" /><Relationship Type="http://schemas.openxmlformats.org/officeDocument/2006/relationships/notesMaster" Target="/ppt/notesMasters/notesMaster1.xml" Id="R65af8b82147049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32504ab3164ca2" /><Relationship Type="http://schemas.openxmlformats.org/officeDocument/2006/relationships/notesMaster" Target="/ppt/notesMasters/notesMaster1.xml" Id="Rbdd6bad6981246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744dca40024ac5" /><Relationship Type="http://schemas.openxmlformats.org/officeDocument/2006/relationships/notesMaster" Target="/ppt/notesMasters/notesMaster1.xml" Id="R71540e4e6f1e45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895fb9e4b94202" /><Relationship Type="http://schemas.openxmlformats.org/officeDocument/2006/relationships/notesMaster" Target="/ppt/notesMasters/notesMaster1.xml" Id="Raea5977447fd42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31fbac19384ff7" /><Relationship Type="http://schemas.openxmlformats.org/officeDocument/2006/relationships/notesMaster" Target="/ppt/notesMasters/notesMaster1.xml" Id="R652bbfb3439045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and proposed model name come from ML ABSTRACT.docx. The project focuses on customer churn prediction using the Telco customer churn dataset. The completed scope ends at EDA. Model training has not started.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customer_churn.csv and the executed Customer_Churn_Prediction_EDA.ipynb. Results: outputs/Customer_Churn_Prediction/results/. Original download URL and licence were not provided.</a:t>
            </a:r>
          </a:p>
          <a:p xmlns:a="http://schemas.openxmlformats.org/drawingml/2006/main">
            <a:r>
              <a:t>The proposed model predicts churn using Elastic Net regularized logistic regression. No pre-computed churn score exists in the supplied data. Post-cancellation billing fields must be excluded to avoid leaking information into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reference: https://scikit-learn.org/stable/modules/generated/sklearn.linear_model.LogisticRegression.html . Elastic Net combines an L2 penalty (coefficient shrinkage) with an L1 penalty (sparsity) using a mixing parameter. Both components require later validation. The current project does not fit the model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customer_churn.csv and the executed Customer_Churn_Prediction_EDA.ipynb. Results: outputs/Customer_Churn_Prediction/results/. Original download URL and licence were not provided.</a:t>
            </a:r>
          </a:p>
          <a:p xmlns:a="http://schemas.openxmlformats.org/drawingml/2006/main">
            <a:r>
              <a:t>Raw shape: 7,043 rows and 21 columns, one row per customer. The format resembles the widely used Telco Customer Churn dataset, but this does not establish the origin of this particular file. Fields cover demographics, account information, billing and service usage.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customer_churn.csv and the executed Customer_Churn_Prediction_EDA.ipynb. Results: outputs/Customer_Churn_Prediction/results/. Original download URL and licence were not provided.</a:t>
            </a:r>
          </a:p>
          <a:p xmlns:a="http://schemas.openxmlformats.org/drawingml/2006/main">
            <a:r>
              <a:t>The lifecycle stages are iterative. Initial cleaning and EDA informed each other. The project has not performed train/test splitting, categorical encoding, feature scaling, model fitting, tuning, evaluation 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customer_churn.csv and the executed Customer_Churn_Prediction_EDA.ipynb. Results: outputs/Customer_Churn_Prediction/results/. Original download URL and licence were not provided.</a:t>
            </a:r>
          </a:p>
          <a:p xmlns:a="http://schemas.openxmlformats.org/drawingml/2006/main">
            <a:r>
              <a:t>Raw customer rows are retained. Blank TotalCharges values are imputed as tenure × MonthlyCharges and reconciled against the billing total. A small number of duplicate customer IDs are ambiguous, so no automatic deletion occurs. Active customers retain 7,032 rows. Excluded rows contain 11 customers with zero recorded tenure. Aggregation produces 7,032 customer records for churn modeling. Current billing totals are descriptive only and must be handled carefully to avoid 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customer_churn.csv and the executed Customer_Churn_Prediction_EDA.ipynb. Results: outputs/Customer_Churn_Prediction/results/. Original download URL and licence were not provided.</a:t>
            </a:r>
          </a:p>
          <a:p xmlns:a="http://schemas.openxmlformats.org/drawingml/2006/main">
            <a:r>
              <a:t>Chart counts computed from results/customer_tenure_eda.csv. Categories: ["0-12","13-24","25-36","37-48","49-60","61-72"] months; counts: [2175,1024,832,762,832,1418]. All 7,043 customers included. Mean tenure 32.4 months, median 29 months, overall churn rate 26.6%. Tenure and churn show a strong inverse relationship. This is descriptive and any billing fields tied to the current period must be handled carefully before 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customer_churn.csv and the executed Customer_Churn_Prediction_EDA.ipynb. Results: outputs/Customer_Churn_Prediction/results/. Original download URL and licence were not provided.</a:t>
            </a:r>
          </a:p>
          <a:p xmlns:a="http://schemas.openxmlformats.org/drawingml/2006/main">
            <a:r>
              <a:t>The completed project ends at EDA. The chosen target is the churn label rather than a pre-computed score. Prospective modeling must avoid using post-cancellation billing fields, since these would leak the target. No model accuracy has been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21006b914d4f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dcfd54d5fc4074" /><Relationship Type="http://schemas.openxmlformats.org/officeDocument/2006/relationships/slideLayout" Target="/ppt/slideLayouts/slideLayout1.xml" Id="R0b362f4003fb4b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362f4003fb4b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eeb38ed534435d" /><Relationship Type="http://schemas.openxmlformats.org/officeDocument/2006/relationships/notesSlide" Target="/ppt/notesSlides/notesSlide1.xml" Id="R80b679f982c24e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f660a4efb6403d" /><Relationship Type="http://schemas.openxmlformats.org/officeDocument/2006/relationships/notesSlide" Target="/ppt/notesSlides/notesSlide2.xml" Id="Rcd1dc97f35bc41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64693ac485492c" /><Relationship Type="http://schemas.openxmlformats.org/officeDocument/2006/relationships/notesSlide" Target="/ppt/notesSlides/notesSlide3.xml" Id="Rf816530dd7c24d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4fde7b664442d7" /><Relationship Type="http://schemas.openxmlformats.org/officeDocument/2006/relationships/notesSlide" Target="/ppt/notesSlides/notesSlide4.xml" Id="R347898116b5f4a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0b3a0c1fac4acf" /><Relationship Type="http://schemas.openxmlformats.org/officeDocument/2006/relationships/notesSlide" Target="/ppt/notesSlides/notesSlide5.xml" Id="R4d3ad9bdf2634c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75647f64ef42e1" /><Relationship Type="http://schemas.openxmlformats.org/officeDocument/2006/relationships/notesSlide" Target="/ppt/notesSlides/notesSlide6.xml" Id="Rb0a6a457bc9f4c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22d54ec7f948c7" /><Relationship Type="http://schemas.openxmlformats.org/officeDocument/2006/relationships/chart" Target="/ppt/slides/charts/chart1.xml" Id="R332b4910bfde4071" /><Relationship Type="http://schemas.openxmlformats.org/officeDocument/2006/relationships/notesSlide" Target="/ppt/notesSlides/notesSlide7.xml" Id="Rc378bd5165e843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4bfb3cce564d02" /><Relationship Type="http://schemas.openxmlformats.org/officeDocument/2006/relationships/notesSlide" Target="/ppt/notesSlides/notesSlide8.xml" Id="R3ba5f9bedfe84e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Number of customers</c:v>
          </c:tx>
          <c:spPr>
            <a:solidFill xmlns:a="http://schemas.openxmlformats.org/drawingml/2006/main">
              <a:srgbClr val="167B79"/>
            </a:solidFill>
          </c:spPr>
          <c:cat>
            <c:strRef>
              <c:f>'Chart Data'!$A$2:$A$7</c:f>
              <c:strCache>
                <c:ptCount val="6"/>
                <c:pt idx="0">
                  <c:v>0-12</c:v>
                </c:pt>
                <c:pt idx="1">
                  <c:v>13-24</c:v>
                </c:pt>
                <c:pt idx="2">
                  <c:v>25-36</c:v>
                </c:pt>
                <c:pt idx="3">
                  <c:v>37-48</c:v>
                </c:pt>
                <c:pt idx="4">
                  <c:v>49-60</c:v>
                </c:pt>
                <c:pt idx="5">
                  <c:v>61-72</c:v>
                </c:pt>
              </c:strCache>
            </c:strRef>
          </c:cat>
          <c:val>
            <c:numRef>
              <c:f>'Chart Data'!$B$2:$B$7</c:f>
              <c:numCache>
                <c:formatCode>#,##0</c:formatCode>
                <c:ptCount val="6"/>
                <c:pt idx="0">
                  <c:v>2175</c:v>
                </c:pt>
                <c:pt idx="1">
                  <c:v>1024</c:v>
                </c:pt>
                <c:pt idx="2">
                  <c:v>832</c:v>
                </c:pt>
                <c:pt idx="3">
                  <c:v>762</c:v>
                </c:pt>
                <c:pt idx="4">
                  <c:v>832</c:v>
                </c:pt>
                <c:pt idx="5">
                  <c:v>1418</c:v>
                </c:pt>
              </c:numCache>
            </c:numRef>
          </c:val>
        </c:ser>
        <c:dLbls>
          <c:txPr>
            <a:bodyPr xmlns:a="http://schemas.openxmlformats.org/drawingml/2006/main" anchorCtr="1"/>
            <a:lstStyle xmlns:a="http://schemas.openxmlformats.org/drawingml/2006/main"/>
            <a:p xmlns:a="http://schemas.openxmlformats.org/drawingml/2006/main">
              <a:pPr>
                <a:defRPr sz="1425">
                  <a:solidFill>
                    <a:srgbClr val="153344"/>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Tenure in months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5334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1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customers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66773"/>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3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2A84F-9B0C-45CF-80C6-AF15BE3499C8}"/>
              </a:ext>
            </a:extLst>
          </p:cNvPr>
          <p:cNvSpPr>
            <a:spLocks xmlns:a="http://schemas.openxmlformats.org/drawingml/2006/main" noGrp="1"/>
          </p:cNvSpPr>
          <p:nvPr/>
        </p:nvSpPr>
        <p:spPr>
          <a:xfrm xmlns:a="http://schemas.openxmlformats.org/drawingml/2006/main">
            <a:off x="666750" y="838200"/>
            <a:ext cx="10858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Customer Churn</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Prediction</a:t>
            </a:r>
          </a:p>
        </p:txBody>
      </p:sp>
      <p:sp>
        <p:nvSpPr>
          <p:cNvPr id="2" name="">
            <a:extLst xmlns:a="http://schemas.openxmlformats.org/drawingml/2006/main">
              <a:ext uri="{FF2B5EF4-FFF2-40B4-BE49-F238E27FC236}">
                <a16:creationId xmlns:a16="http://schemas.microsoft.com/office/drawing/2014/main" id="{20A0F678-F8EF-4DB8-A0A6-0E4553B3B4D3}"/>
              </a:ext>
            </a:extLst>
          </p:cNvPr>
          <p:cNvSpPr>
            <a:spLocks xmlns:a="http://schemas.openxmlformats.org/drawingml/2006/main" noGrp="1"/>
          </p:cNvSpPr>
          <p:nvPr/>
        </p:nvSpPr>
        <p:spPr>
          <a:xfrm xmlns:a="http://schemas.openxmlformats.org/drawingml/2006/main">
            <a:off x="704850" y="2647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CE1DA"/>
                </a:solidFill>
                <a:latin typeface="Arial"/>
                <a:ea typeface="Arial"/>
                <a:cs typeface="Arial"/>
              </a:defRPr>
            </a:pPr>
            <a:r>
              <a:rPr sz="2550" b="0">
                <a:solidFill>
                  <a:srgbClr val="BCE1DA"/>
                </a:solidFill>
                <a:latin typeface="Arial"/>
                <a:ea typeface="Arial"/>
                <a:cs typeface="Arial"/>
              </a:rPr>
              <a:t>Using Elastic Net Regularized Logistic Regression</a:t>
            </a:r>
          </a:p>
        </p:txBody>
      </p:sp>
      <p:sp>
        <p:nvSpPr>
          <p:cNvPr id="3" name="">
            <a:extLst xmlns:a="http://schemas.openxmlformats.org/drawingml/2006/main">
              <a:ext uri="{FF2B5EF4-FFF2-40B4-BE49-F238E27FC236}">
                <a16:creationId xmlns:a16="http://schemas.microsoft.com/office/drawing/2014/main" id="{BF5D5D4A-E072-4A8F-B69D-8D6BC7698D90}"/>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Project progress through exploratory data analysis</a:t>
            </a:r>
          </a:p>
        </p:txBody>
      </p:sp>
      <p:sp>
        <p:nvSpPr>
          <p:cNvPr id="4" name="">
            <a:extLst xmlns:a="http://schemas.openxmlformats.org/drawingml/2006/main">
              <a:ext uri="{FF2B5EF4-FFF2-40B4-BE49-F238E27FC236}">
                <a16:creationId xmlns:a16="http://schemas.microsoft.com/office/drawing/2014/main" id="{31CC8A2E-BA42-4F20-A7B7-35610C7D1CA7}"/>
              </a:ext>
            </a:extLst>
          </p:cNvPr>
          <p:cNvSpPr>
            <a:spLocks xmlns:a="http://schemas.openxmlformats.org/drawingml/2006/main" noGrp="1"/>
          </p:cNvSpPr>
          <p:nvPr/>
        </p:nvSpPr>
        <p:spPr>
          <a:xfrm xmlns:a="http://schemas.openxmlformats.org/drawingml/2006/main">
            <a:off x="704850" y="4476750"/>
            <a:ext cx="7429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K Partheev  (2520030197)</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J Vivek  (2520030180)</a:t>
            </a:r>
          </a:p>
        </p:txBody>
      </p:sp>
      <p:sp>
        <p:nvSpPr>
          <p:cNvPr id="5" name="">
            <a:extLst xmlns:a="http://schemas.openxmlformats.org/drawingml/2006/main">
              <a:ext uri="{FF2B5EF4-FFF2-40B4-BE49-F238E27FC236}">
                <a16:creationId xmlns:a16="http://schemas.microsoft.com/office/drawing/2014/main" id="{346A3615-9C13-46FC-BF51-37578C74D757}"/>
              </a:ext>
            </a:extLst>
          </p:cNvPr>
          <p:cNvSpPr>
            <a:spLocks xmlns:a="http://schemas.openxmlformats.org/drawingml/2006/main" noGrp="1"/>
          </p:cNvSpPr>
          <p:nvPr/>
        </p:nvSpPr>
        <p:spPr>
          <a:xfrm xmlns:a="http://schemas.openxmlformats.org/drawingml/2006/main">
            <a:off x="8172450" y="44767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Team 25     Section 5</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Guide: Rani M</a:t>
            </a:r>
          </a:p>
        </p:txBody>
      </p:sp>
      <p:sp>
        <p:nvSpPr>
          <p:cNvPr id="6" name="">
            <a:extLst xmlns:a="http://schemas.openxmlformats.org/drawingml/2006/main">
              <a:ext uri="{FF2B5EF4-FFF2-40B4-BE49-F238E27FC236}">
                <a16:creationId xmlns:a16="http://schemas.microsoft.com/office/drawing/2014/main" id="{25C3A086-1CEC-4489-BD4D-C0F26E808166}"/>
              </a:ext>
            </a:extLst>
          </p:cNvPr>
          <p:cNvSpPr>
            <a:spLocks xmlns:a="http://schemas.openxmlformats.org/drawingml/2006/main" noGrp="1"/>
          </p:cNvSpPr>
          <p:nvPr/>
        </p:nvSpPr>
        <p:spPr>
          <a:xfrm xmlns:a="http://schemas.openxmlformats.org/drawingml/2006/main">
            <a:off x="704850" y="59531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1DA"/>
                </a:solidFill>
                <a:latin typeface="Arial"/>
                <a:ea typeface="Arial"/>
                <a:cs typeface="Arial"/>
              </a:defRPr>
            </a:pPr>
            <a:r>
              <a:rPr sz="1650" b="0">
                <a:solidFill>
                  <a:srgbClr val="BCE1DA"/>
                </a:solidFill>
                <a:latin typeface="Arial"/>
                <a:ea typeface="Arial"/>
                <a:cs typeface="Arial"/>
              </a:rPr>
              <a:t>Machine Learning 25SC2107E     Academic year 2026–2027</a:t>
            </a:r>
          </a:p>
        </p:txBody>
      </p:sp>
    </p:spTree>
    <p:extLst>
      <p:ext uri="{BB962C8B-B14F-4D97-AF65-F5344CB8AC3E}">
        <p14:creationId xmlns:p14="http://schemas.microsoft.com/office/powerpoint/2010/main" val="1641235462"/>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7EE581-6AE4-418C-A896-7CC7011EA467}"/>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3344"/>
                </a:solidFill>
                <a:latin typeface="Arial"/>
                <a:ea typeface="Arial"/>
                <a:cs typeface="Arial"/>
              </a:defRPr>
            </a:pPr>
            <a:r>
              <a:rPr sz="3300" b="1">
                <a:solidFill>
                  <a:srgbClr val="153344"/>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6F79BB98-486C-4255-83AD-F9078AFAC146}"/>
              </a:ext>
            </a:extLst>
          </p:cNvPr>
          <p:cNvSpPr>
            <a:spLocks xmlns:a="http://schemas.openxmlformats.org/drawingml/2006/main" noGrp="1"/>
          </p:cNvSpPr>
          <p:nvPr/>
        </p:nvSpPr>
        <p:spPr>
          <a:xfrm xmlns:a="http://schemas.openxmlformats.org/drawingml/2006/main">
            <a:off x="11125200" y="63912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rial"/>
                <a:ea typeface="Arial"/>
                <a:cs typeface="Arial"/>
              </a:defRPr>
            </a:pPr>
            <a:r>
              <a:rPr sz="1350" b="0">
                <a:solidFill>
                  <a:srgbClr val="56677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E9CBF1C-8365-49F9-AC87-A0A7E525300E}"/>
              </a:ext>
            </a:extLst>
          </p:cNvPr>
          <p:cNvSpPr>
            <a:spLocks xmlns:a="http://schemas.openxmlformats.org/drawingml/2006/main" noGrp="1"/>
          </p:cNvSpPr>
          <p:nvPr/>
        </p:nvSpPr>
        <p:spPr>
          <a:xfrm xmlns:a="http://schemas.openxmlformats.org/drawingml/2006/main">
            <a:off x="666750" y="1400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7B79"/>
                </a:solidFill>
                <a:latin typeface="Arial"/>
                <a:ea typeface="Arial"/>
                <a:cs typeface="Arial"/>
              </a:defRPr>
            </a:pPr>
            <a:r>
              <a:rPr sz="2550" b="1">
                <a:solidFill>
                  <a:srgbClr val="167B79"/>
                </a:solidFill>
                <a:latin typeface="Arial"/>
                <a:ea typeface="Arial"/>
                <a:cs typeface="Arial"/>
              </a:rPr>
              <a:t>Churn behavior varies across customers</a:t>
            </a:r>
          </a:p>
        </p:txBody>
      </p:sp>
      <p:sp>
        <p:nvSpPr>
          <p:cNvPr id="4" name="">
            <a:extLst xmlns:a="http://schemas.openxmlformats.org/drawingml/2006/main">
              <a:ext uri="{FF2B5EF4-FFF2-40B4-BE49-F238E27FC236}">
                <a16:creationId xmlns:a16="http://schemas.microsoft.com/office/drawing/2014/main" id="{8C6FC617-04C7-4C4A-B932-64A0085E66F5}"/>
              </a:ext>
            </a:extLst>
          </p:cNvPr>
          <p:cNvSpPr>
            <a:spLocks xmlns:a="http://schemas.openxmlformats.org/drawingml/2006/main" noGrp="1"/>
          </p:cNvSpPr>
          <p:nvPr/>
        </p:nvSpPr>
        <p:spPr>
          <a:xfrm xmlns:a="http://schemas.openxmlformats.org/drawingml/2006/main">
            <a:off x="666750" y="2133600"/>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344"/>
                </a:solidFill>
                <a:latin typeface="Arial"/>
                <a:ea typeface="Arial"/>
                <a:cs typeface="Arial"/>
              </a:defRPr>
            </a:pPr>
            <a:r>
              <a:rPr sz="2250" b="0">
                <a:solidFill>
                  <a:srgbClr val="153344"/>
                </a:solidFill>
                <a:latin typeface="Arial"/>
                <a:ea typeface="Arial"/>
                <a:cs typeface="Arial"/>
              </a:rPr>
              <a:t>A customer’s likelihood to churn combines usage behavior with billing and contract details. We need to study behavior at the customer level.</a:t>
            </a:r>
          </a:p>
        </p:txBody>
      </p:sp>
      <p:sp>
        <p:nvSpPr>
          <p:cNvPr id="5" name="">
            <a:extLst xmlns:a="http://schemas.openxmlformats.org/drawingml/2006/main">
              <a:ext uri="{FF2B5EF4-FFF2-40B4-BE49-F238E27FC236}">
                <a16:creationId xmlns:a16="http://schemas.microsoft.com/office/drawing/2014/main" id="{798E6E69-6FCF-4C49-AE56-99DD759197CA}"/>
              </a:ext>
            </a:extLst>
          </p:cNvPr>
          <p:cNvSpPr>
            <a:spLocks xmlns:a="http://schemas.openxmlformats.org/drawingml/2006/main" noGrp="1"/>
          </p:cNvSpPr>
          <p:nvPr/>
        </p:nvSpPr>
        <p:spPr>
          <a:xfrm xmlns:a="http://schemas.openxmlformats.org/drawingml/2006/main">
            <a:off x="666750" y="345757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B79"/>
                </a:solidFill>
                <a:latin typeface="Arial"/>
                <a:ea typeface="Arial"/>
                <a:cs typeface="Arial"/>
              </a:defRPr>
            </a:pPr>
            <a:r>
              <a:rPr sz="2025" b="1">
                <a:solidFill>
                  <a:srgbClr val="167B79"/>
                </a:solidFill>
                <a:latin typeface="Arial"/>
                <a:ea typeface="Arial"/>
                <a:cs typeface="Arial"/>
              </a:rPr>
              <a:t>Objective</a:t>
            </a:r>
          </a:p>
        </p:txBody>
      </p:sp>
      <p:sp>
        <p:nvSpPr>
          <p:cNvPr id="6" name="">
            <a:extLst xmlns:a="http://schemas.openxmlformats.org/drawingml/2006/main">
              <a:ext uri="{FF2B5EF4-FFF2-40B4-BE49-F238E27FC236}">
                <a16:creationId xmlns:a16="http://schemas.microsoft.com/office/drawing/2014/main" id="{BC333E1D-C2BC-43FC-8E96-B96567BEB359}"/>
              </a:ext>
            </a:extLst>
          </p:cNvPr>
          <p:cNvSpPr>
            <a:spLocks xmlns:a="http://schemas.openxmlformats.org/drawingml/2006/main" noGrp="1"/>
          </p:cNvSpPr>
          <p:nvPr/>
        </p:nvSpPr>
        <p:spPr>
          <a:xfrm xmlns:a="http://schemas.openxmlformats.org/drawingml/2006/main">
            <a:off x="3238500" y="3438525"/>
            <a:ext cx="800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Understand the data and prepare for predicting whether a customer will churn.</a:t>
            </a:r>
          </a:p>
        </p:txBody>
      </p:sp>
      <p:sp>
        <p:nvSpPr>
          <p:cNvPr id="7" name="">
            <a:extLst xmlns:a="http://schemas.openxmlformats.org/drawingml/2006/main">
              <a:ext uri="{FF2B5EF4-FFF2-40B4-BE49-F238E27FC236}">
                <a16:creationId xmlns:a16="http://schemas.microsoft.com/office/drawing/2014/main" id="{940BCAC9-8F56-40DC-B0E5-985F5679602C}"/>
              </a:ext>
            </a:extLst>
          </p:cNvPr>
          <p:cNvSpPr>
            <a:spLocks xmlns:a="http://schemas.openxmlformats.org/drawingml/2006/main" noGrp="1"/>
          </p:cNvSpPr>
          <p:nvPr/>
        </p:nvSpPr>
        <p:spPr>
          <a:xfrm xmlns:a="http://schemas.openxmlformats.org/drawingml/2006/main">
            <a:off x="6667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B79"/>
                </a:solidFill>
                <a:latin typeface="Arial"/>
                <a:ea typeface="Arial"/>
                <a:cs typeface="Arial"/>
              </a:defRPr>
            </a:pPr>
            <a:r>
              <a:rPr sz="2025" b="1">
                <a:solidFill>
                  <a:srgbClr val="167B79"/>
                </a:solidFill>
                <a:latin typeface="Arial"/>
                <a:ea typeface="Arial"/>
                <a:cs typeface="Arial"/>
              </a:rPr>
              <a:t>Target</a:t>
            </a:r>
          </a:p>
        </p:txBody>
      </p:sp>
      <p:sp>
        <p:nvSpPr>
          <p:cNvPr id="8" name="">
            <a:extLst xmlns:a="http://schemas.openxmlformats.org/drawingml/2006/main">
              <a:ext uri="{FF2B5EF4-FFF2-40B4-BE49-F238E27FC236}">
                <a16:creationId xmlns:a16="http://schemas.microsoft.com/office/drawing/2014/main" id="{552CFD93-1CEC-4579-819B-F9498D1095CB}"/>
              </a:ext>
            </a:extLst>
          </p:cNvPr>
          <p:cNvSpPr>
            <a:spLocks xmlns:a="http://schemas.openxmlformats.org/drawingml/2006/main" noGrp="1"/>
          </p:cNvSpPr>
          <p:nvPr/>
        </p:nvSpPr>
        <p:spPr>
          <a:xfrm xmlns:a="http://schemas.openxmlformats.org/drawingml/2006/main">
            <a:off x="3238500" y="4371975"/>
            <a:ext cx="800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Churn = binary label indicating whether the customer discontinued the service.</a:t>
            </a:r>
          </a:p>
        </p:txBody>
      </p:sp>
      <p:sp>
        <p:nvSpPr>
          <p:cNvPr id="9" name="">
            <a:extLst xmlns:a="http://schemas.openxmlformats.org/drawingml/2006/main">
              <a:ext uri="{FF2B5EF4-FFF2-40B4-BE49-F238E27FC236}">
                <a16:creationId xmlns:a16="http://schemas.microsoft.com/office/drawing/2014/main" id="{A6230A48-BC39-46C0-A16F-252A26E3A02E}"/>
              </a:ext>
            </a:extLst>
          </p:cNvPr>
          <p:cNvSpPr>
            <a:spLocks xmlns:a="http://schemas.openxmlformats.org/drawingml/2006/main" noGrp="1"/>
          </p:cNvSpPr>
          <p:nvPr/>
        </p:nvSpPr>
        <p:spPr>
          <a:xfrm xmlns:a="http://schemas.openxmlformats.org/drawingml/2006/main">
            <a:off x="666750" y="53530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B79"/>
                </a:solidFill>
                <a:latin typeface="Arial"/>
                <a:ea typeface="Arial"/>
                <a:cs typeface="Arial"/>
              </a:defRPr>
            </a:pPr>
            <a:r>
              <a:rPr sz="2025" b="1">
                <a:solidFill>
                  <a:srgbClr val="167B79"/>
                </a:solidFill>
                <a:latin typeface="Arial"/>
                <a:ea typeface="Arial"/>
                <a:cs typeface="Arial"/>
              </a:rPr>
              <a:t>Scope</a:t>
            </a:r>
          </a:p>
        </p:txBody>
      </p:sp>
      <p:sp>
        <p:nvSpPr>
          <p:cNvPr id="10" name="">
            <a:extLst xmlns:a="http://schemas.openxmlformats.org/drawingml/2006/main">
              <a:ext uri="{FF2B5EF4-FFF2-40B4-BE49-F238E27FC236}">
                <a16:creationId xmlns:a16="http://schemas.microsoft.com/office/drawing/2014/main" id="{6A2F1A19-1F83-4411-A1EF-E88748364597}"/>
              </a:ext>
            </a:extLst>
          </p:cNvPr>
          <p:cNvSpPr>
            <a:spLocks xmlns:a="http://schemas.openxmlformats.org/drawingml/2006/main" noGrp="1"/>
          </p:cNvSpPr>
          <p:nvPr/>
        </p:nvSpPr>
        <p:spPr>
          <a:xfrm xmlns:a="http://schemas.openxmlformats.org/drawingml/2006/main">
            <a:off x="3238500" y="5334000"/>
            <a:ext cx="800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344"/>
                </a:solidFill>
                <a:latin typeface="Arial"/>
                <a:ea typeface="Arial"/>
                <a:cs typeface="Arial"/>
              </a:defRPr>
            </a:pPr>
            <a:r>
              <a:rPr sz="2025" b="0">
                <a:solidFill>
                  <a:srgbClr val="153344"/>
                </a:solidFill>
                <a:latin typeface="Arial"/>
                <a:ea typeface="Arial"/>
                <a:cs typeface="Arial"/>
              </a:rPr>
              <a:t>Customer churn analysis through EDA. The dataset has no pre-computed churn score.</a:t>
            </a:r>
          </a:p>
        </p:txBody>
      </p:sp>
    </p:spTree>
    <p:extLst>
      <p:ext uri="{BB962C8B-B14F-4D97-AF65-F5344CB8AC3E}">
        <p14:creationId xmlns:p14="http://schemas.microsoft.com/office/powerpoint/2010/main" val="433677468"/>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E2CFEC-A174-4499-AF28-8B7E3C6E0965}"/>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3344"/>
                </a:solidFill>
                <a:latin typeface="Arial"/>
                <a:ea typeface="Arial"/>
                <a:cs typeface="Arial"/>
              </a:defRPr>
            </a:pPr>
            <a:r>
              <a:rPr sz="3300" b="1">
                <a:solidFill>
                  <a:srgbClr val="153344"/>
                </a:solidFill>
                <a:latin typeface="Arial"/>
                <a:ea typeface="Arial"/>
                <a:cs typeface="Arial"/>
              </a:rPr>
              <a:t>Models we plan to use</a:t>
            </a:r>
          </a:p>
        </p:txBody>
      </p:sp>
      <p:sp>
        <p:nvSpPr>
          <p:cNvPr id="2" name="">
            <a:extLst xmlns:a="http://schemas.openxmlformats.org/drawingml/2006/main">
              <a:ext uri="{FF2B5EF4-FFF2-40B4-BE49-F238E27FC236}">
                <a16:creationId xmlns:a16="http://schemas.microsoft.com/office/drawing/2014/main" id="{403612F5-70DC-454E-B7D3-57F337F963FA}"/>
              </a:ext>
            </a:extLst>
          </p:cNvPr>
          <p:cNvSpPr>
            <a:spLocks xmlns:a="http://schemas.openxmlformats.org/drawingml/2006/main" noGrp="1"/>
          </p:cNvSpPr>
          <p:nvPr/>
        </p:nvSpPr>
        <p:spPr>
          <a:xfrm xmlns:a="http://schemas.openxmlformats.org/drawingml/2006/main">
            <a:off x="11125200" y="63912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rial"/>
                <a:ea typeface="Arial"/>
                <a:cs typeface="Arial"/>
              </a:defRPr>
            </a:pPr>
            <a:r>
              <a:rPr sz="1350" b="0">
                <a:solidFill>
                  <a:srgbClr val="56677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536BC68-0257-496F-80F2-4709A77EDAA5}"/>
              </a:ext>
            </a:extLst>
          </p:cNvPr>
          <p:cNvSpPr>
            <a:spLocks xmlns:a="http://schemas.openxmlformats.org/drawingml/2006/main" noGrp="1"/>
          </p:cNvSpPr>
          <p:nvPr/>
        </p:nvSpPr>
        <p:spPr>
          <a:xfrm xmlns:a="http://schemas.openxmlformats.org/drawingml/2006/main">
            <a:off x="666750" y="14382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B79"/>
                </a:solidFill>
                <a:latin typeface="Arial"/>
                <a:ea typeface="Arial"/>
                <a:cs typeface="Arial"/>
              </a:defRPr>
            </a:pPr>
            <a:r>
              <a:rPr sz="2700" b="1">
                <a:solidFill>
                  <a:srgbClr val="167B79"/>
                </a:solidFill>
                <a:latin typeface="Arial"/>
                <a:ea typeface="Arial"/>
                <a:cs typeface="Arial"/>
              </a:rPr>
              <a:t>L2 Penalty (Ridge Term)</a:t>
            </a:r>
          </a:p>
        </p:txBody>
      </p:sp>
      <p:sp>
        <p:nvSpPr>
          <p:cNvPr id="4" name="">
            <a:extLst xmlns:a="http://schemas.openxmlformats.org/drawingml/2006/main">
              <a:ext uri="{FF2B5EF4-FFF2-40B4-BE49-F238E27FC236}">
                <a16:creationId xmlns:a16="http://schemas.microsoft.com/office/drawing/2014/main" id="{89091742-F6ED-4C20-81D4-F5A03EA56434}"/>
              </a:ext>
            </a:extLst>
          </p:cNvPr>
          <p:cNvSpPr>
            <a:spLocks xmlns:a="http://schemas.openxmlformats.org/drawingml/2006/main" noGrp="1"/>
          </p:cNvSpPr>
          <p:nvPr/>
        </p:nvSpPr>
        <p:spPr>
          <a:xfrm xmlns:a="http://schemas.openxmlformats.org/drawingml/2006/main">
            <a:off x="666750" y="2133600"/>
            <a:ext cx="49530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L2 regularization</a:t>
            </a:r>
          </a:p>
          <a:p xmlns:a="http://schemas.openxmlformats.org/drawingml/2006/main">
            <a:r>
              <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Shrinks coefficient sizes.</a:t>
            </a:r>
          </a:p>
          <a:p xmlns:a="http://schemas.openxmlformats.org/drawingml/2006/main">
            <a:r>
              <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Useful when input features</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are strongly correlated.</a:t>
            </a:r>
          </a:p>
        </p:txBody>
      </p:sp>
      <p:sp>
        <p:nvSpPr>
          <p:cNvPr id="5" name="">
            <a:extLst xmlns:a="http://schemas.openxmlformats.org/drawingml/2006/main">
              <a:ext uri="{FF2B5EF4-FFF2-40B4-BE49-F238E27FC236}">
                <a16:creationId xmlns:a16="http://schemas.microsoft.com/office/drawing/2014/main" id="{D92D390E-6995-4C69-B0DB-AFC6B0F5F5C8}"/>
              </a:ext>
            </a:extLst>
          </p:cNvPr>
          <p:cNvSpPr>
            <a:spLocks xmlns:a="http://schemas.openxmlformats.org/drawingml/2006/main" noGrp="1"/>
          </p:cNvSpPr>
          <p:nvPr/>
        </p:nvSpPr>
        <p:spPr>
          <a:xfrm xmlns:a="http://schemas.openxmlformats.org/drawingml/2006/main">
            <a:off x="6429375" y="14382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B79"/>
                </a:solidFill>
                <a:latin typeface="Arial"/>
                <a:ea typeface="Arial"/>
                <a:cs typeface="Arial"/>
              </a:defRPr>
            </a:pPr>
            <a:r>
              <a:rPr sz="2700" b="1">
                <a:solidFill>
                  <a:srgbClr val="167B79"/>
                </a:solidFill>
                <a:latin typeface="Arial"/>
                <a:ea typeface="Arial"/>
                <a:cs typeface="Arial"/>
              </a:rPr>
              <a:t>L1 Penalty (Lasso Term)</a:t>
            </a:r>
          </a:p>
        </p:txBody>
      </p:sp>
      <p:sp>
        <p:nvSpPr>
          <p:cNvPr id="6" name="">
            <a:extLst xmlns:a="http://schemas.openxmlformats.org/drawingml/2006/main">
              <a:ext uri="{FF2B5EF4-FFF2-40B4-BE49-F238E27FC236}">
                <a16:creationId xmlns:a16="http://schemas.microsoft.com/office/drawing/2014/main" id="{FE01598F-0001-4A95-8845-DCD34DF19B95}"/>
              </a:ext>
            </a:extLst>
          </p:cNvPr>
          <p:cNvSpPr>
            <a:spLocks xmlns:a="http://schemas.openxmlformats.org/drawingml/2006/main" noGrp="1"/>
          </p:cNvSpPr>
          <p:nvPr/>
        </p:nvSpPr>
        <p:spPr>
          <a:xfrm xmlns:a="http://schemas.openxmlformats.org/drawingml/2006/main">
            <a:off x="6429375" y="2133600"/>
            <a:ext cx="5095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L1 regularization</a:t>
            </a:r>
          </a:p>
          <a:p xmlns:a="http://schemas.openxmlformats.org/drawingml/2006/main">
            <a:r>
              <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Can reduce some coefficients to zero.</a:t>
            </a:r>
          </a:p>
          <a:p xmlns:a="http://schemas.openxmlformats.org/drawingml/2006/main">
            <a:r>
              <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Helps identify a smaller set</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of useful predictors.</a:t>
            </a:r>
          </a:p>
        </p:txBody>
      </p:sp>
      <p:sp>
        <p:nvSpPr>
          <p:cNvPr id="7" name="">
            <a:extLst xmlns:a="http://schemas.openxmlformats.org/drawingml/2006/main">
              <a:ext uri="{FF2B5EF4-FFF2-40B4-BE49-F238E27FC236}">
                <a16:creationId xmlns:a16="http://schemas.microsoft.com/office/drawing/2014/main" id="{9659AE95-E616-4E55-9381-E165DB6099F1}"/>
              </a:ext>
            </a:extLst>
          </p:cNvPr>
          <p:cNvSpPr>
            <a:spLocks xmlns:a="http://schemas.openxmlformats.org/drawingml/2006/main" noGrp="1"/>
          </p:cNvSpPr>
          <p:nvPr/>
        </p:nvSpPr>
        <p:spPr>
          <a:xfrm xmlns:a="http://schemas.openxmlformats.org/drawingml/2006/main">
            <a:off x="666750" y="53721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344"/>
                </a:solidFill>
                <a:latin typeface="Arial"/>
                <a:ea typeface="Arial"/>
                <a:cs typeface="Arial"/>
              </a:defRPr>
            </a:pPr>
            <a:r>
              <a:rPr sz="2175" b="1">
                <a:solidFill>
                  <a:srgbClr val="153344"/>
                </a:solidFill>
                <a:latin typeface="Arial"/>
                <a:ea typeface="Arial"/>
                <a:cs typeface="Arial"/>
              </a:rPr>
              <a:t>Later comparison: Accuracy, F1 and AUC-ROC on a future test period</a:t>
            </a:r>
          </a:p>
        </p:txBody>
      </p:sp>
      <p:sp>
        <p:nvSpPr>
          <p:cNvPr id="8" name="">
            <a:extLst xmlns:a="http://schemas.openxmlformats.org/drawingml/2006/main">
              <a:ext uri="{FF2B5EF4-FFF2-40B4-BE49-F238E27FC236}">
                <a16:creationId xmlns:a16="http://schemas.microsoft.com/office/drawing/2014/main" id="{599D7A23-209D-497F-A4BF-AB9BE96CC2A3}"/>
              </a:ext>
            </a:extLst>
          </p:cNvPr>
          <p:cNvSpPr>
            <a:spLocks xmlns:a="http://schemas.openxmlformats.org/drawingml/2006/main" noGrp="1"/>
          </p:cNvSpPr>
          <p:nvPr/>
        </p:nvSpPr>
        <p:spPr>
          <a:xfrm xmlns:a="http://schemas.openxmlformats.org/drawingml/2006/main">
            <a:off x="666750" y="595312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rial"/>
                <a:ea typeface="Arial"/>
                <a:cs typeface="Arial"/>
              </a:defRPr>
            </a:pPr>
            <a:r>
              <a:rPr sz="1800" b="0">
                <a:solidFill>
                  <a:srgbClr val="566773"/>
                </a:solidFill>
                <a:latin typeface="Arial"/>
                <a:ea typeface="Arial"/>
                <a:cs typeface="Arial"/>
              </a:rPr>
              <a:t>Current status: proposed model only. Training and evaluation are future work.</a:t>
            </a:r>
          </a:p>
        </p:txBody>
      </p:sp>
    </p:spTree>
    <p:extLst>
      <p:ext uri="{BB962C8B-B14F-4D97-AF65-F5344CB8AC3E}">
        <p14:creationId xmlns:p14="http://schemas.microsoft.com/office/powerpoint/2010/main" val="1915269651"/>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F3F6D0-016A-42AC-B3A5-5F869C669248}"/>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3344"/>
                </a:solidFill>
                <a:latin typeface="Arial"/>
                <a:ea typeface="Arial"/>
                <a:cs typeface="Arial"/>
              </a:defRPr>
            </a:pPr>
            <a:r>
              <a:rPr sz="3300" b="1">
                <a:solidFill>
                  <a:srgbClr val="153344"/>
                </a:solidFill>
                <a:latin typeface="Arial"/>
                <a:ea typeface="Arial"/>
                <a:cs typeface="Arial"/>
              </a:rPr>
              <a:t>Choosing the dataset</a:t>
            </a:r>
          </a:p>
        </p:txBody>
      </p:sp>
      <p:sp>
        <p:nvSpPr>
          <p:cNvPr id="2" name="">
            <a:extLst xmlns:a="http://schemas.openxmlformats.org/drawingml/2006/main">
              <a:ext uri="{FF2B5EF4-FFF2-40B4-BE49-F238E27FC236}">
                <a16:creationId xmlns:a16="http://schemas.microsoft.com/office/drawing/2014/main" id="{C6E2EB5C-48B1-470D-9CB3-5C9D81708904}"/>
              </a:ext>
            </a:extLst>
          </p:cNvPr>
          <p:cNvSpPr>
            <a:spLocks xmlns:a="http://schemas.openxmlformats.org/drawingml/2006/main" noGrp="1"/>
          </p:cNvSpPr>
          <p:nvPr/>
        </p:nvSpPr>
        <p:spPr>
          <a:xfrm xmlns:a="http://schemas.openxmlformats.org/drawingml/2006/main">
            <a:off x="11125200" y="63912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rial"/>
                <a:ea typeface="Arial"/>
                <a:cs typeface="Arial"/>
              </a:defRPr>
            </a:pPr>
            <a:r>
              <a:rPr sz="1350" b="0">
                <a:solidFill>
                  <a:srgbClr val="56677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DC139F7-D9D3-4D89-AC66-883449BE5484}"/>
              </a:ext>
            </a:extLst>
          </p:cNvPr>
          <p:cNvSpPr>
            <a:spLocks xmlns:a="http://schemas.openxmlformats.org/drawingml/2006/main" noGrp="1"/>
          </p:cNvSpPr>
          <p:nvPr/>
        </p:nvSpPr>
        <p:spPr>
          <a:xfrm xmlns:a="http://schemas.openxmlformats.org/drawingml/2006/main">
            <a:off x="666750" y="14001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67B79"/>
                </a:solidFill>
                <a:latin typeface="Arial"/>
                <a:ea typeface="Arial"/>
                <a:cs typeface="Arial"/>
              </a:defRPr>
            </a:pPr>
            <a:r>
              <a:rPr sz="3150" b="1">
                <a:solidFill>
                  <a:srgbClr val="167B79"/>
                </a:solidFill>
                <a:latin typeface="Arial"/>
                <a:ea typeface="Arial"/>
                <a:cs typeface="Arial"/>
              </a:rPr>
              <a:t>customer_churn.csv</a:t>
            </a:r>
          </a:p>
        </p:txBody>
      </p:sp>
      <p:sp>
        <p:nvSpPr>
          <p:cNvPr id="4" name="">
            <a:extLst xmlns:a="http://schemas.openxmlformats.org/drawingml/2006/main">
              <a:ext uri="{FF2B5EF4-FFF2-40B4-BE49-F238E27FC236}">
                <a16:creationId xmlns:a16="http://schemas.microsoft.com/office/drawing/2014/main" id="{AF97632C-8930-46EB-960F-C0A53C110D88}"/>
              </a:ext>
            </a:extLst>
          </p:cNvPr>
          <p:cNvSpPr>
            <a:spLocks xmlns:a="http://schemas.openxmlformats.org/drawingml/2006/main" noGrp="1"/>
          </p:cNvSpPr>
          <p:nvPr/>
        </p:nvSpPr>
        <p:spPr>
          <a:xfrm xmlns:a="http://schemas.openxmlformats.org/drawingml/2006/main">
            <a:off x="666750" y="2371725"/>
            <a:ext cx="309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3344"/>
                </a:solidFill>
                <a:latin typeface="Arial"/>
                <a:ea typeface="Arial"/>
                <a:cs typeface="Arial"/>
              </a:defRPr>
            </a:pPr>
            <a:r>
              <a:rPr sz="3600" b="1">
                <a:solidFill>
                  <a:srgbClr val="153344"/>
                </a:solidFill>
                <a:latin typeface="Arial"/>
                <a:ea typeface="Arial"/>
                <a:cs typeface="Arial"/>
              </a:rPr>
              <a:t>7,043</a:t>
            </a:r>
          </a:p>
        </p:txBody>
      </p:sp>
      <p:sp>
        <p:nvSpPr>
          <p:cNvPr id="5" name="">
            <a:extLst xmlns:a="http://schemas.openxmlformats.org/drawingml/2006/main">
              <a:ext uri="{FF2B5EF4-FFF2-40B4-BE49-F238E27FC236}">
                <a16:creationId xmlns:a16="http://schemas.microsoft.com/office/drawing/2014/main" id="{A3E83AF9-75B1-4E8C-9240-D880687B0C17}"/>
              </a:ext>
            </a:extLst>
          </p:cNvPr>
          <p:cNvSpPr>
            <a:spLocks xmlns:a="http://schemas.openxmlformats.org/drawingml/2006/main" noGrp="1"/>
          </p:cNvSpPr>
          <p:nvPr/>
        </p:nvSpPr>
        <p:spPr>
          <a:xfrm xmlns:a="http://schemas.openxmlformats.org/drawingml/2006/main">
            <a:off x="666750" y="3028950"/>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773"/>
                </a:solidFill>
                <a:latin typeface="Arial"/>
                <a:ea typeface="Arial"/>
                <a:cs typeface="Arial"/>
              </a:defRPr>
            </a:pPr>
            <a:r>
              <a:rPr sz="2025" b="0">
                <a:solidFill>
                  <a:srgbClr val="566773"/>
                </a:solidFill>
                <a:latin typeface="Arial"/>
                <a:ea typeface="Arial"/>
                <a:cs typeface="Arial"/>
              </a:rPr>
              <a:t>customer records</a:t>
            </a:r>
          </a:p>
        </p:txBody>
      </p:sp>
      <p:sp>
        <p:nvSpPr>
          <p:cNvPr id="6" name="">
            <a:extLst xmlns:a="http://schemas.openxmlformats.org/drawingml/2006/main">
              <a:ext uri="{FF2B5EF4-FFF2-40B4-BE49-F238E27FC236}">
                <a16:creationId xmlns:a16="http://schemas.microsoft.com/office/drawing/2014/main" id="{BB927793-E46C-41BA-92E1-F872E1808C6B}"/>
              </a:ext>
            </a:extLst>
          </p:cNvPr>
          <p:cNvSpPr>
            <a:spLocks xmlns:a="http://schemas.openxmlformats.org/drawingml/2006/main" noGrp="1"/>
          </p:cNvSpPr>
          <p:nvPr/>
        </p:nvSpPr>
        <p:spPr>
          <a:xfrm xmlns:a="http://schemas.openxmlformats.org/drawingml/2006/main">
            <a:off x="4533900" y="2371725"/>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3344"/>
                </a:solidFill>
                <a:latin typeface="Arial"/>
                <a:ea typeface="Arial"/>
                <a:cs typeface="Arial"/>
              </a:defRPr>
            </a:pPr>
            <a:r>
              <a:rPr sz="3600" b="1">
                <a:solidFill>
                  <a:srgbClr val="153344"/>
                </a:solidFill>
                <a:latin typeface="Arial"/>
                <a:ea typeface="Arial"/>
                <a:cs typeface="Arial"/>
              </a:rPr>
              <a:t>21</a:t>
            </a:r>
          </a:p>
        </p:txBody>
      </p:sp>
      <p:sp>
        <p:nvSpPr>
          <p:cNvPr id="7" name="">
            <a:extLst xmlns:a="http://schemas.openxmlformats.org/drawingml/2006/main">
              <a:ext uri="{FF2B5EF4-FFF2-40B4-BE49-F238E27FC236}">
                <a16:creationId xmlns:a16="http://schemas.microsoft.com/office/drawing/2014/main" id="{EBA84764-9CE8-4F53-B1F7-781FC80559FC}"/>
              </a:ext>
            </a:extLst>
          </p:cNvPr>
          <p:cNvSpPr>
            <a:spLocks xmlns:a="http://schemas.openxmlformats.org/drawingml/2006/main" noGrp="1"/>
          </p:cNvSpPr>
          <p:nvPr/>
        </p:nvSpPr>
        <p:spPr>
          <a:xfrm xmlns:a="http://schemas.openxmlformats.org/drawingml/2006/main">
            <a:off x="4533900" y="302895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773"/>
                </a:solidFill>
                <a:latin typeface="Arial"/>
                <a:ea typeface="Arial"/>
                <a:cs typeface="Arial"/>
              </a:defRPr>
            </a:pPr>
            <a:r>
              <a:rPr sz="2025" b="0">
                <a:solidFill>
                  <a:srgbClr val="566773"/>
                </a:solidFill>
                <a:latin typeface="Arial"/>
                <a:ea typeface="Arial"/>
                <a:cs typeface="Arial"/>
              </a:rPr>
              <a:t>features</a:t>
            </a:r>
          </a:p>
        </p:txBody>
      </p:sp>
      <p:sp>
        <p:nvSpPr>
          <p:cNvPr id="8" name="">
            <a:extLst xmlns:a="http://schemas.openxmlformats.org/drawingml/2006/main">
              <a:ext uri="{FF2B5EF4-FFF2-40B4-BE49-F238E27FC236}">
                <a16:creationId xmlns:a16="http://schemas.microsoft.com/office/drawing/2014/main" id="{6331731E-0597-4245-AB00-707373E9F070}"/>
              </a:ext>
            </a:extLst>
          </p:cNvPr>
          <p:cNvSpPr>
            <a:spLocks xmlns:a="http://schemas.openxmlformats.org/drawingml/2006/main" noGrp="1"/>
          </p:cNvSpPr>
          <p:nvPr/>
        </p:nvSpPr>
        <p:spPr>
          <a:xfrm xmlns:a="http://schemas.openxmlformats.org/drawingml/2006/main">
            <a:off x="8210550" y="2371725"/>
            <a:ext cx="333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3344"/>
                </a:solidFill>
                <a:latin typeface="Arial"/>
                <a:ea typeface="Arial"/>
                <a:cs typeface="Arial"/>
              </a:defRPr>
            </a:pPr>
            <a:r>
              <a:rPr sz="3600" b="1">
                <a:solidFill>
                  <a:srgbClr val="153344"/>
                </a:solidFill>
                <a:latin typeface="Arial"/>
                <a:ea typeface="Arial"/>
                <a:cs typeface="Arial"/>
              </a:rPr>
              <a:t>2020</a:t>
            </a:r>
          </a:p>
        </p:txBody>
      </p:sp>
      <p:sp>
        <p:nvSpPr>
          <p:cNvPr id="9" name="">
            <a:extLst xmlns:a="http://schemas.openxmlformats.org/drawingml/2006/main">
              <a:ext uri="{FF2B5EF4-FFF2-40B4-BE49-F238E27FC236}">
                <a16:creationId xmlns:a16="http://schemas.microsoft.com/office/drawing/2014/main" id="{12555174-26ED-4958-BF2C-8DD51F8E306A}"/>
              </a:ext>
            </a:extLst>
          </p:cNvPr>
          <p:cNvSpPr>
            <a:spLocks xmlns:a="http://schemas.openxmlformats.org/drawingml/2006/main" noGrp="1"/>
          </p:cNvSpPr>
          <p:nvPr/>
        </p:nvSpPr>
        <p:spPr>
          <a:xfrm xmlns:a="http://schemas.openxmlformats.org/drawingml/2006/main">
            <a:off x="8210550" y="30289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773"/>
                </a:solidFill>
                <a:latin typeface="Arial"/>
                <a:ea typeface="Arial"/>
                <a:cs typeface="Arial"/>
              </a:defRPr>
            </a:pPr>
            <a:r>
              <a:rPr sz="2025" b="0">
                <a:solidFill>
                  <a:srgbClr val="566773"/>
                </a:solidFill>
                <a:latin typeface="Arial"/>
                <a:ea typeface="Arial"/>
                <a:cs typeface="Arial"/>
              </a:rPr>
              <a:t>snapshot year</a:t>
            </a:r>
          </a:p>
        </p:txBody>
      </p:sp>
      <p:sp>
        <p:nvSpPr>
          <p:cNvPr id="10" name="">
            <a:extLst xmlns:a="http://schemas.openxmlformats.org/drawingml/2006/main">
              <a:ext uri="{FF2B5EF4-FFF2-40B4-BE49-F238E27FC236}">
                <a16:creationId xmlns:a16="http://schemas.microsoft.com/office/drawing/2014/main" id="{5E0E78B6-8D15-4160-98EA-5D510742649D}"/>
              </a:ext>
            </a:extLst>
          </p:cNvPr>
          <p:cNvSpPr>
            <a:spLocks xmlns:a="http://schemas.openxmlformats.org/drawingml/2006/main" noGrp="1"/>
          </p:cNvSpPr>
          <p:nvPr/>
        </p:nvSpPr>
        <p:spPr>
          <a:xfrm xmlns:a="http://schemas.openxmlformats.org/drawingml/2006/main">
            <a:off x="666750" y="3933825"/>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B79"/>
                </a:solidFill>
                <a:latin typeface="Arial"/>
                <a:ea typeface="Arial"/>
                <a:cs typeface="Arial"/>
              </a:defRPr>
            </a:pPr>
            <a:r>
              <a:rPr sz="2175" b="1">
                <a:solidFill>
                  <a:srgbClr val="167B79"/>
                </a:solidFill>
                <a:latin typeface="Arial"/>
                <a:ea typeface="Arial"/>
                <a:cs typeface="Arial"/>
              </a:rPr>
              <a:t>Why it fits</a:t>
            </a:r>
          </a:p>
        </p:txBody>
      </p:sp>
      <p:sp>
        <p:nvSpPr>
          <p:cNvPr id="11" name="">
            <a:extLst xmlns:a="http://schemas.openxmlformats.org/drawingml/2006/main">
              <a:ext uri="{FF2B5EF4-FFF2-40B4-BE49-F238E27FC236}">
                <a16:creationId xmlns:a16="http://schemas.microsoft.com/office/drawing/2014/main" id="{5329E90F-A4A7-4856-B8B3-1BFF4CFCF520}"/>
              </a:ext>
            </a:extLst>
          </p:cNvPr>
          <p:cNvSpPr>
            <a:spLocks xmlns:a="http://schemas.openxmlformats.org/drawingml/2006/main" noGrp="1"/>
          </p:cNvSpPr>
          <p:nvPr/>
        </p:nvSpPr>
        <p:spPr>
          <a:xfrm xmlns:a="http://schemas.openxmlformats.org/drawingml/2006/main">
            <a:off x="3238500" y="3914775"/>
            <a:ext cx="8096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Customer demographics, billing details and service usage allow us to build churn prediction features.</a:t>
            </a:r>
          </a:p>
        </p:txBody>
      </p:sp>
      <p:sp>
        <p:nvSpPr>
          <p:cNvPr id="12" name="">
            <a:extLst xmlns:a="http://schemas.openxmlformats.org/drawingml/2006/main">
              <a:ext uri="{FF2B5EF4-FFF2-40B4-BE49-F238E27FC236}">
                <a16:creationId xmlns:a16="http://schemas.microsoft.com/office/drawing/2014/main" id="{4BBEBE21-7E83-4882-8532-8A1E5F0C0BBE}"/>
              </a:ext>
            </a:extLst>
          </p:cNvPr>
          <p:cNvSpPr>
            <a:spLocks xmlns:a="http://schemas.openxmlformats.org/drawingml/2006/main" noGrp="1"/>
          </p:cNvSpPr>
          <p:nvPr/>
        </p:nvSpPr>
        <p:spPr>
          <a:xfrm xmlns:a="http://schemas.openxmlformats.org/drawingml/2006/main">
            <a:off x="666750" y="501015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B79"/>
                </a:solidFill>
                <a:latin typeface="Arial"/>
                <a:ea typeface="Arial"/>
                <a:cs typeface="Arial"/>
              </a:defRPr>
            </a:pPr>
            <a:r>
              <a:rPr sz="2175" b="1">
                <a:solidFill>
                  <a:srgbClr val="167B79"/>
                </a:solidFill>
                <a:latin typeface="Arial"/>
                <a:ea typeface="Arial"/>
                <a:cs typeface="Arial"/>
              </a:rPr>
              <a:t>Key fields</a:t>
            </a:r>
          </a:p>
        </p:txBody>
      </p:sp>
      <p:sp>
        <p:nvSpPr>
          <p:cNvPr id="13" name="">
            <a:extLst xmlns:a="http://schemas.openxmlformats.org/drawingml/2006/main">
              <a:ext uri="{FF2B5EF4-FFF2-40B4-BE49-F238E27FC236}">
                <a16:creationId xmlns:a16="http://schemas.microsoft.com/office/drawing/2014/main" id="{DB1DAFD1-0D18-4580-822E-E47FDD78A160}"/>
              </a:ext>
            </a:extLst>
          </p:cNvPr>
          <p:cNvSpPr>
            <a:spLocks xmlns:a="http://schemas.openxmlformats.org/drawingml/2006/main" noGrp="1"/>
          </p:cNvSpPr>
          <p:nvPr/>
        </p:nvSpPr>
        <p:spPr>
          <a:xfrm xmlns:a="http://schemas.openxmlformats.org/drawingml/2006/main">
            <a:off x="3238500" y="4991100"/>
            <a:ext cx="8096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344"/>
                </a:solidFill>
                <a:latin typeface="Arial"/>
                <a:ea typeface="Arial"/>
                <a:cs typeface="Arial"/>
              </a:defRPr>
            </a:pPr>
            <a:r>
              <a:rPr sz="2025" b="0">
                <a:solidFill>
                  <a:srgbClr val="153344"/>
                </a:solidFill>
                <a:latin typeface="Arial"/>
                <a:ea typeface="Arial"/>
                <a:cs typeface="Arial"/>
              </a:rPr>
              <a:t>Customer ID, tenure, contract type, monthly charges, total charges, internet service and churn label.</a:t>
            </a:r>
          </a:p>
        </p:txBody>
      </p:sp>
      <p:sp>
        <p:nvSpPr>
          <p:cNvPr id="14" name="">
            <a:extLst xmlns:a="http://schemas.openxmlformats.org/drawingml/2006/main">
              <a:ext uri="{FF2B5EF4-FFF2-40B4-BE49-F238E27FC236}">
                <a16:creationId xmlns:a16="http://schemas.microsoft.com/office/drawing/2014/main" id="{4282EF03-AFB1-47FD-86FC-EC9C15BB4700}"/>
              </a:ext>
            </a:extLst>
          </p:cNvPr>
          <p:cNvSpPr>
            <a:spLocks xmlns:a="http://schemas.openxmlformats.org/drawingml/2006/main" noGrp="1"/>
          </p:cNvSpPr>
          <p:nvPr/>
        </p:nvSpPr>
        <p:spPr>
          <a:xfrm xmlns:a="http://schemas.openxmlformats.org/drawingml/2006/main">
            <a:off x="666750" y="6048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6773"/>
                </a:solidFill>
                <a:latin typeface="Arial"/>
                <a:ea typeface="Arial"/>
                <a:cs typeface="Arial"/>
              </a:defRPr>
            </a:pPr>
            <a:r>
              <a:rPr sz="1575" b="0">
                <a:solidFill>
                  <a:srgbClr val="566773"/>
                </a:solidFill>
                <a:latin typeface="Arial"/>
                <a:ea typeface="Arial"/>
                <a:cs typeface="Arial"/>
              </a:rPr>
              <a:t>Source: user-supplied file. Original Kaggle link was not provided.</a:t>
            </a:r>
          </a:p>
        </p:txBody>
      </p:sp>
    </p:spTree>
    <p:extLst>
      <p:ext uri="{BB962C8B-B14F-4D97-AF65-F5344CB8AC3E}">
        <p14:creationId xmlns:p14="http://schemas.microsoft.com/office/powerpoint/2010/main" val="1417750142"/>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F8147CF-B87E-466D-B979-70C880822D9F}"/>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3344"/>
                </a:solidFill>
                <a:latin typeface="Arial"/>
                <a:ea typeface="Arial"/>
                <a:cs typeface="Arial"/>
              </a:defRPr>
            </a:pPr>
            <a:r>
              <a:rPr sz="3300" b="1">
                <a:solidFill>
                  <a:srgbClr val="153344"/>
                </a:solidFill>
                <a:latin typeface="Arial"/>
                <a:ea typeface="Arial"/>
                <a:cs typeface="Arial"/>
              </a:rPr>
              <a:t>Machine learning lifecycle</a:t>
            </a:r>
          </a:p>
        </p:txBody>
      </p:sp>
      <p:sp>
        <p:nvSpPr>
          <p:cNvPr id="2" name="">
            <a:extLst xmlns:a="http://schemas.openxmlformats.org/drawingml/2006/main">
              <a:ext uri="{FF2B5EF4-FFF2-40B4-BE49-F238E27FC236}">
                <a16:creationId xmlns:a16="http://schemas.microsoft.com/office/drawing/2014/main" id="{6BEE0311-BED3-4702-A218-1E10A700A338}"/>
              </a:ext>
            </a:extLst>
          </p:cNvPr>
          <p:cNvSpPr>
            <a:spLocks xmlns:a="http://schemas.openxmlformats.org/drawingml/2006/main" noGrp="1"/>
          </p:cNvSpPr>
          <p:nvPr/>
        </p:nvSpPr>
        <p:spPr>
          <a:xfrm xmlns:a="http://schemas.openxmlformats.org/drawingml/2006/main">
            <a:off x="11125200" y="63912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rial"/>
                <a:ea typeface="Arial"/>
                <a:cs typeface="Arial"/>
              </a:defRPr>
            </a:pPr>
            <a:r>
              <a:rPr sz="1350" b="0">
                <a:solidFill>
                  <a:srgbClr val="566773"/>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D3A8331-2E2A-4026-BDE8-7FCD9D5E9BE3}"/>
              </a:ext>
            </a:extLst>
          </p:cNvPr>
          <p:cNvSpPr>
            <a:spLocks xmlns:a="http://schemas.openxmlformats.org/drawingml/2006/main" noGrp="1"/>
          </p:cNvSpPr>
          <p:nvPr/>
        </p:nvSpPr>
        <p:spPr>
          <a:xfrm xmlns:a="http://schemas.openxmlformats.org/drawingml/2006/main">
            <a:off x="666750" y="13906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B79"/>
                </a:solidFill>
                <a:latin typeface="Arial"/>
                <a:ea typeface="Arial"/>
                <a:cs typeface="Arial"/>
              </a:defRPr>
            </a:pPr>
            <a:r>
              <a:rPr sz="2475" b="1">
                <a:solidFill>
                  <a:srgbClr val="167B79"/>
                </a:solidFill>
                <a:latin typeface="Arial"/>
                <a:ea typeface="Arial"/>
                <a:cs typeface="Arial"/>
              </a:rPr>
              <a:t>Completed in this project</a:t>
            </a:r>
          </a:p>
        </p:txBody>
      </p:sp>
      <p:sp>
        <p:nvSpPr>
          <p:cNvPr id="4" name="">
            <a:extLst xmlns:a="http://schemas.openxmlformats.org/drawingml/2006/main">
              <a:ext uri="{FF2B5EF4-FFF2-40B4-BE49-F238E27FC236}">
                <a16:creationId xmlns:a16="http://schemas.microsoft.com/office/drawing/2014/main" id="{901C518C-567B-4CC2-9BFD-BA528D56988A}"/>
              </a:ext>
            </a:extLst>
          </p:cNvPr>
          <p:cNvSpPr>
            <a:spLocks xmlns:a="http://schemas.openxmlformats.org/drawingml/2006/main" noGrp="1"/>
          </p:cNvSpPr>
          <p:nvPr/>
        </p:nvSpPr>
        <p:spPr>
          <a:xfrm xmlns:a="http://schemas.openxmlformats.org/drawingml/2006/main">
            <a:off x="666750" y="20478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334154E-A0F1-40DF-A248-EFE6E7954A92}"/>
              </a:ext>
            </a:extLst>
          </p:cNvPr>
          <p:cNvSpPr>
            <a:spLocks xmlns:a="http://schemas.openxmlformats.org/drawingml/2006/main" noGrp="1"/>
          </p:cNvSpPr>
          <p:nvPr/>
        </p:nvSpPr>
        <p:spPr>
          <a:xfrm xmlns:a="http://schemas.openxmlformats.org/drawingml/2006/main">
            <a:off x="1485900" y="204787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344"/>
                </a:solidFill>
                <a:latin typeface="Arial"/>
                <a:ea typeface="Arial"/>
                <a:cs typeface="Arial"/>
              </a:defRPr>
            </a:pPr>
            <a:r>
              <a:rPr sz="2100" b="1">
                <a:solidFill>
                  <a:srgbClr val="153344"/>
                </a:solidFill>
                <a:latin typeface="Arial"/>
                <a:ea typeface="Arial"/>
                <a:cs typeface="Arial"/>
              </a:rPr>
              <a:t>Problem definition</a:t>
            </a:r>
          </a:p>
        </p:txBody>
      </p:sp>
      <p:sp>
        <p:nvSpPr>
          <p:cNvPr id="6" name="">
            <a:extLst xmlns:a="http://schemas.openxmlformats.org/drawingml/2006/main">
              <a:ext uri="{FF2B5EF4-FFF2-40B4-BE49-F238E27FC236}">
                <a16:creationId xmlns:a16="http://schemas.microsoft.com/office/drawing/2014/main" id="{337850C3-F2F0-4121-B3F9-32A1D82CF3D9}"/>
              </a:ext>
            </a:extLst>
          </p:cNvPr>
          <p:cNvSpPr>
            <a:spLocks xmlns:a="http://schemas.openxmlformats.org/drawingml/2006/main" noGrp="1"/>
          </p:cNvSpPr>
          <p:nvPr/>
        </p:nvSpPr>
        <p:spPr>
          <a:xfrm xmlns:a="http://schemas.openxmlformats.org/drawingml/2006/main">
            <a:off x="1485900" y="2409825"/>
            <a:ext cx="547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rial"/>
                <a:ea typeface="Arial"/>
                <a:cs typeface="Arial"/>
              </a:defRPr>
            </a:pPr>
            <a:r>
              <a:rPr sz="1650" b="0">
                <a:solidFill>
                  <a:srgbClr val="566773"/>
                </a:solidFill>
                <a:latin typeface="Arial"/>
                <a:ea typeface="Arial"/>
                <a:cs typeface="Arial"/>
              </a:rPr>
              <a:t>Choose churn as the target</a:t>
            </a:r>
          </a:p>
        </p:txBody>
      </p:sp>
      <p:sp>
        <p:nvSpPr>
          <p:cNvPr id="7" name="">
            <a:extLst xmlns:a="http://schemas.openxmlformats.org/drawingml/2006/main">
              <a:ext uri="{FF2B5EF4-FFF2-40B4-BE49-F238E27FC236}">
                <a16:creationId xmlns:a16="http://schemas.microsoft.com/office/drawing/2014/main" id="{7837CD67-353D-44C0-B261-8BBF534F13E7}"/>
              </a:ext>
            </a:extLst>
          </p:cNvPr>
          <p:cNvSpPr>
            <a:spLocks xmlns:a="http://schemas.openxmlformats.org/drawingml/2006/main" noGrp="1"/>
          </p:cNvSpPr>
          <p:nvPr/>
        </p:nvSpPr>
        <p:spPr>
          <a:xfrm xmlns:a="http://schemas.openxmlformats.org/drawingml/2006/main">
            <a:off x="666750" y="28098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3B7036E-89BB-4370-AA39-90611A2A6792}"/>
              </a:ext>
            </a:extLst>
          </p:cNvPr>
          <p:cNvSpPr>
            <a:spLocks xmlns:a="http://schemas.openxmlformats.org/drawingml/2006/main" noGrp="1"/>
          </p:cNvSpPr>
          <p:nvPr/>
        </p:nvSpPr>
        <p:spPr>
          <a:xfrm xmlns:a="http://schemas.openxmlformats.org/drawingml/2006/main">
            <a:off x="1485900" y="280987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344"/>
                </a:solidFill>
                <a:latin typeface="Arial"/>
                <a:ea typeface="Arial"/>
                <a:cs typeface="Arial"/>
              </a:defRPr>
            </a:pPr>
            <a:r>
              <a:rPr sz="2100" b="1">
                <a:solidFill>
                  <a:srgbClr val="153344"/>
                </a:solidFill>
                <a:latin typeface="Arial"/>
                <a:ea typeface="Arial"/>
                <a:cs typeface="Arial"/>
              </a:rPr>
              <a:t>Data collection</a:t>
            </a:r>
          </a:p>
        </p:txBody>
      </p:sp>
      <p:sp>
        <p:nvSpPr>
          <p:cNvPr id="9" name="">
            <a:extLst xmlns:a="http://schemas.openxmlformats.org/drawingml/2006/main">
              <a:ext uri="{FF2B5EF4-FFF2-40B4-BE49-F238E27FC236}">
                <a16:creationId xmlns:a16="http://schemas.microsoft.com/office/drawing/2014/main" id="{B6994A91-1572-41BF-9322-C221122454C1}"/>
              </a:ext>
            </a:extLst>
          </p:cNvPr>
          <p:cNvSpPr>
            <a:spLocks xmlns:a="http://schemas.openxmlformats.org/drawingml/2006/main" noGrp="1"/>
          </p:cNvSpPr>
          <p:nvPr/>
        </p:nvSpPr>
        <p:spPr>
          <a:xfrm xmlns:a="http://schemas.openxmlformats.org/drawingml/2006/main">
            <a:off x="1485900" y="3171825"/>
            <a:ext cx="547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rial"/>
                <a:ea typeface="Arial"/>
                <a:cs typeface="Arial"/>
              </a:defRPr>
            </a:pPr>
            <a:r>
              <a:rPr sz="1650" b="0">
                <a:solidFill>
                  <a:srgbClr val="566773"/>
                </a:solidFill>
                <a:latin typeface="Arial"/>
                <a:ea typeface="Arial"/>
                <a:cs typeface="Arial"/>
              </a:rPr>
              <a:t>Preserve and identify the supplied CSV</a:t>
            </a:r>
          </a:p>
        </p:txBody>
      </p:sp>
      <p:sp>
        <p:nvSpPr>
          <p:cNvPr id="10" name="">
            <a:extLst xmlns:a="http://schemas.openxmlformats.org/drawingml/2006/main">
              <a:ext uri="{FF2B5EF4-FFF2-40B4-BE49-F238E27FC236}">
                <a16:creationId xmlns:a16="http://schemas.microsoft.com/office/drawing/2014/main" id="{4FF1A85B-4296-44C4-AF50-5A1CB1266F59}"/>
              </a:ext>
            </a:extLst>
          </p:cNvPr>
          <p:cNvSpPr>
            <a:spLocks xmlns:a="http://schemas.openxmlformats.org/drawingml/2006/main" noGrp="1"/>
          </p:cNvSpPr>
          <p:nvPr/>
        </p:nvSpPr>
        <p:spPr>
          <a:xfrm xmlns:a="http://schemas.openxmlformats.org/drawingml/2006/main">
            <a:off x="666750" y="35718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AA8BEB3-9776-45A0-9DA2-E95E57180A28}"/>
              </a:ext>
            </a:extLst>
          </p:cNvPr>
          <p:cNvSpPr>
            <a:spLocks xmlns:a="http://schemas.openxmlformats.org/drawingml/2006/main" noGrp="1"/>
          </p:cNvSpPr>
          <p:nvPr/>
        </p:nvSpPr>
        <p:spPr>
          <a:xfrm xmlns:a="http://schemas.openxmlformats.org/drawingml/2006/main">
            <a:off x="1485900" y="357187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344"/>
                </a:solidFill>
                <a:latin typeface="Arial"/>
                <a:ea typeface="Arial"/>
                <a:cs typeface="Arial"/>
              </a:defRPr>
            </a:pPr>
            <a:r>
              <a:rPr sz="2100" b="1">
                <a:solidFill>
                  <a:srgbClr val="153344"/>
                </a:solidFill>
                <a:latin typeface="Arial"/>
                <a:ea typeface="Arial"/>
                <a:cs typeface="Arial"/>
              </a:rPr>
              <a:t>Data understanding</a:t>
            </a:r>
          </a:p>
        </p:txBody>
      </p:sp>
      <p:sp>
        <p:nvSpPr>
          <p:cNvPr id="12" name="">
            <a:extLst xmlns:a="http://schemas.openxmlformats.org/drawingml/2006/main">
              <a:ext uri="{FF2B5EF4-FFF2-40B4-BE49-F238E27FC236}">
                <a16:creationId xmlns:a16="http://schemas.microsoft.com/office/drawing/2014/main" id="{34027436-4B10-478B-8A44-80C09EAE1505}"/>
              </a:ext>
            </a:extLst>
          </p:cNvPr>
          <p:cNvSpPr>
            <a:spLocks xmlns:a="http://schemas.openxmlformats.org/drawingml/2006/main" noGrp="1"/>
          </p:cNvSpPr>
          <p:nvPr/>
        </p:nvSpPr>
        <p:spPr>
          <a:xfrm xmlns:a="http://schemas.openxmlformats.org/drawingml/2006/main">
            <a:off x="1485900" y="3933825"/>
            <a:ext cx="547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rial"/>
                <a:ea typeface="Arial"/>
                <a:cs typeface="Arial"/>
              </a:defRPr>
            </a:pPr>
            <a:r>
              <a:rPr sz="1650" b="0">
                <a:solidFill>
                  <a:srgbClr val="566773"/>
                </a:solidFill>
                <a:latin typeface="Arial"/>
                <a:ea typeface="Arial"/>
                <a:cs typeface="Arial"/>
              </a:rPr>
              <a:t>Inspect fields, coverage and quality</a:t>
            </a:r>
          </a:p>
        </p:txBody>
      </p:sp>
      <p:sp>
        <p:nvSpPr>
          <p:cNvPr id="13" name="">
            <a:extLst xmlns:a="http://schemas.openxmlformats.org/drawingml/2006/main">
              <a:ext uri="{FF2B5EF4-FFF2-40B4-BE49-F238E27FC236}">
                <a16:creationId xmlns:a16="http://schemas.microsoft.com/office/drawing/2014/main" id="{705EC533-8521-4AAC-9453-3F4EC350DF24}"/>
              </a:ext>
            </a:extLst>
          </p:cNvPr>
          <p:cNvSpPr>
            <a:spLocks xmlns:a="http://schemas.openxmlformats.org/drawingml/2006/main" noGrp="1"/>
          </p:cNvSpPr>
          <p:nvPr/>
        </p:nvSpPr>
        <p:spPr>
          <a:xfrm xmlns:a="http://schemas.openxmlformats.org/drawingml/2006/main">
            <a:off x="666750" y="43338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7A00AC23-6658-41FC-8004-A381355972CF}"/>
              </a:ext>
            </a:extLst>
          </p:cNvPr>
          <p:cNvSpPr>
            <a:spLocks xmlns:a="http://schemas.openxmlformats.org/drawingml/2006/main" noGrp="1"/>
          </p:cNvSpPr>
          <p:nvPr/>
        </p:nvSpPr>
        <p:spPr>
          <a:xfrm xmlns:a="http://schemas.openxmlformats.org/drawingml/2006/main">
            <a:off x="1485900" y="433387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344"/>
                </a:solidFill>
                <a:latin typeface="Arial"/>
                <a:ea typeface="Arial"/>
                <a:cs typeface="Arial"/>
              </a:defRPr>
            </a:pPr>
            <a:r>
              <a:rPr sz="2100" b="1">
                <a:solidFill>
                  <a:srgbClr val="153344"/>
                </a:solidFill>
                <a:latin typeface="Arial"/>
                <a:ea typeface="Arial"/>
                <a:cs typeface="Arial"/>
              </a:rPr>
              <a:t>Initial preparation</a:t>
            </a:r>
          </a:p>
        </p:txBody>
      </p:sp>
      <p:sp>
        <p:nvSpPr>
          <p:cNvPr id="15" name="">
            <a:extLst xmlns:a="http://schemas.openxmlformats.org/drawingml/2006/main">
              <a:ext uri="{FF2B5EF4-FFF2-40B4-BE49-F238E27FC236}">
                <a16:creationId xmlns:a16="http://schemas.microsoft.com/office/drawing/2014/main" id="{9C9B6833-B1F8-4317-8E1A-CA1E52372540}"/>
              </a:ext>
            </a:extLst>
          </p:cNvPr>
          <p:cNvSpPr>
            <a:spLocks xmlns:a="http://schemas.openxmlformats.org/drawingml/2006/main" noGrp="1"/>
          </p:cNvSpPr>
          <p:nvPr/>
        </p:nvSpPr>
        <p:spPr>
          <a:xfrm xmlns:a="http://schemas.openxmlformats.org/drawingml/2006/main">
            <a:off x="1485900" y="4695825"/>
            <a:ext cx="547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rial"/>
                <a:ea typeface="Arial"/>
                <a:cs typeface="Arial"/>
              </a:defRPr>
            </a:pPr>
            <a:r>
              <a:rPr sz="1650" b="0">
                <a:solidFill>
                  <a:srgbClr val="566773"/>
                </a:solidFill>
                <a:latin typeface="Arial"/>
                <a:ea typeface="Arial"/>
                <a:cs typeface="Arial"/>
              </a:rPr>
              <a:t>Clean fields and encode categorical variables</a:t>
            </a:r>
          </a:p>
        </p:txBody>
      </p:sp>
      <p:sp>
        <p:nvSpPr>
          <p:cNvPr id="16" name="">
            <a:extLst xmlns:a="http://schemas.openxmlformats.org/drawingml/2006/main">
              <a:ext uri="{FF2B5EF4-FFF2-40B4-BE49-F238E27FC236}">
                <a16:creationId xmlns:a16="http://schemas.microsoft.com/office/drawing/2014/main" id="{61F981F7-CEC4-4C8E-8524-1B587FA4B6FF}"/>
              </a:ext>
            </a:extLst>
          </p:cNvPr>
          <p:cNvSpPr>
            <a:spLocks xmlns:a="http://schemas.openxmlformats.org/drawingml/2006/main" noGrp="1"/>
          </p:cNvSpPr>
          <p:nvPr/>
        </p:nvSpPr>
        <p:spPr>
          <a:xfrm xmlns:a="http://schemas.openxmlformats.org/drawingml/2006/main">
            <a:off x="666750" y="50958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29D3A73A-26DE-4402-AA8E-E2BB979F3540}"/>
              </a:ext>
            </a:extLst>
          </p:cNvPr>
          <p:cNvSpPr>
            <a:spLocks xmlns:a="http://schemas.openxmlformats.org/drawingml/2006/main" noGrp="1"/>
          </p:cNvSpPr>
          <p:nvPr/>
        </p:nvSpPr>
        <p:spPr>
          <a:xfrm xmlns:a="http://schemas.openxmlformats.org/drawingml/2006/main">
            <a:off x="1485900" y="509587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344"/>
                </a:solidFill>
                <a:latin typeface="Arial"/>
                <a:ea typeface="Arial"/>
                <a:cs typeface="Arial"/>
              </a:defRPr>
            </a:pPr>
            <a:r>
              <a:rPr sz="2100" b="1">
                <a:solidFill>
                  <a:srgbClr val="153344"/>
                </a:solidFill>
                <a:latin typeface="Arial"/>
                <a:ea typeface="Arial"/>
                <a:cs typeface="Arial"/>
              </a:rPr>
              <a:t>Exploratory analysis</a:t>
            </a:r>
          </a:p>
        </p:txBody>
      </p:sp>
      <p:sp>
        <p:nvSpPr>
          <p:cNvPr id="18" name="">
            <a:extLst xmlns:a="http://schemas.openxmlformats.org/drawingml/2006/main">
              <a:ext uri="{FF2B5EF4-FFF2-40B4-BE49-F238E27FC236}">
                <a16:creationId xmlns:a16="http://schemas.microsoft.com/office/drawing/2014/main" id="{314E19BD-B998-40FA-9B12-23190517B112}"/>
              </a:ext>
            </a:extLst>
          </p:cNvPr>
          <p:cNvSpPr>
            <a:spLocks xmlns:a="http://schemas.openxmlformats.org/drawingml/2006/main" noGrp="1"/>
          </p:cNvSpPr>
          <p:nvPr/>
        </p:nvSpPr>
        <p:spPr>
          <a:xfrm xmlns:a="http://schemas.openxmlformats.org/drawingml/2006/main">
            <a:off x="1485900" y="5457825"/>
            <a:ext cx="547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rial"/>
                <a:ea typeface="Arial"/>
                <a:cs typeface="Arial"/>
              </a:defRPr>
            </a:pPr>
            <a:r>
              <a:rPr sz="1650" b="0">
                <a:solidFill>
                  <a:srgbClr val="566773"/>
                </a:solidFill>
                <a:latin typeface="Arial"/>
                <a:ea typeface="Arial"/>
                <a:cs typeface="Arial"/>
              </a:rPr>
              <a:t>Study distributions and relationships</a:t>
            </a:r>
          </a:p>
        </p:txBody>
      </p:sp>
      <p:sp>
        <p:nvSpPr>
          <p:cNvPr id="19" name="">
            <a:extLst xmlns:a="http://schemas.openxmlformats.org/drawingml/2006/main">
              <a:ext uri="{FF2B5EF4-FFF2-40B4-BE49-F238E27FC236}">
                <a16:creationId xmlns:a16="http://schemas.microsoft.com/office/drawing/2014/main" id="{88F228BE-6A19-4D03-8713-0CD732CA58B0}"/>
              </a:ext>
            </a:extLst>
          </p:cNvPr>
          <p:cNvSpPr>
            <a:spLocks xmlns:a="http://schemas.openxmlformats.org/drawingml/2006/main" noGrp="1"/>
          </p:cNvSpPr>
          <p:nvPr/>
        </p:nvSpPr>
        <p:spPr>
          <a:xfrm xmlns:a="http://schemas.openxmlformats.org/drawingml/2006/main">
            <a:off x="7858125" y="13906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566773"/>
                </a:solidFill>
                <a:latin typeface="Arial"/>
                <a:ea typeface="Arial"/>
                <a:cs typeface="Arial"/>
              </a:defRPr>
            </a:pPr>
            <a:r>
              <a:rPr sz="2475" b="1">
                <a:solidFill>
                  <a:srgbClr val="566773"/>
                </a:solidFill>
                <a:latin typeface="Arial"/>
                <a:ea typeface="Arial"/>
                <a:cs typeface="Arial"/>
              </a:rPr>
              <a:t>Next phase</a:t>
            </a:r>
          </a:p>
        </p:txBody>
      </p:sp>
      <p:sp>
        <p:nvSpPr>
          <p:cNvPr id="20" name="">
            <a:extLst xmlns:a="http://schemas.openxmlformats.org/drawingml/2006/main">
              <a:ext uri="{FF2B5EF4-FFF2-40B4-BE49-F238E27FC236}">
                <a16:creationId xmlns:a16="http://schemas.microsoft.com/office/drawing/2014/main" id="{DAB178E1-12F0-48D0-84B1-3589BFF53179}"/>
              </a:ext>
            </a:extLst>
          </p:cNvPr>
          <p:cNvSpPr>
            <a:spLocks xmlns:a="http://schemas.openxmlformats.org/drawingml/2006/main" noGrp="1"/>
          </p:cNvSpPr>
          <p:nvPr/>
        </p:nvSpPr>
        <p:spPr>
          <a:xfrm xmlns:a="http://schemas.openxmlformats.org/drawingml/2006/main">
            <a:off x="7858125" y="2143125"/>
            <a:ext cx="3524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773"/>
                </a:solidFill>
                <a:latin typeface="Arial"/>
                <a:ea typeface="Arial"/>
                <a:cs typeface="Arial"/>
              </a:defRPr>
            </a:pPr>
            <a:r>
              <a:rPr sz="2025" b="0">
                <a:solidFill>
                  <a:srgbClr val="566773"/>
                </a:solidFill>
                <a:latin typeface="Arial"/>
                <a:ea typeface="Arial"/>
                <a:cs typeface="Arial"/>
              </a:rPr>
              <a:t>Engineer customer features</a:t>
            </a:r>
          </a:p>
          <a:p xmlns:a="http://schemas.openxmlformats.org/drawingml/2006/main">
            <a:r>
              <a:t/>
            </a:r>
          </a:p>
          <a:p xmlns:a="http://schemas.openxmlformats.org/drawingml/2006/main">
            <a:pPr>
              <a:defRPr sz="2025" b="0">
                <a:solidFill>
                  <a:srgbClr val="566773"/>
                </a:solidFill>
                <a:latin typeface="Arial"/>
                <a:ea typeface="Arial"/>
                <a:cs typeface="Arial"/>
              </a:defRPr>
            </a:pPr>
            <a:r>
              <a:rPr sz="2025" b="0">
                <a:solidFill>
                  <a:srgbClr val="566773"/>
                </a:solidFill>
                <a:latin typeface="Arial"/>
                <a:ea typeface="Arial"/>
                <a:cs typeface="Arial"/>
              </a:rPr>
              <a:t>Split data into train and test sets</a:t>
            </a:r>
          </a:p>
          <a:p xmlns:a="http://schemas.openxmlformats.org/drawingml/2006/main">
            <a:r>
              <a:t/>
            </a:r>
          </a:p>
          <a:p xmlns:a="http://schemas.openxmlformats.org/drawingml/2006/main">
            <a:pPr>
              <a:defRPr sz="2025" b="0">
                <a:solidFill>
                  <a:srgbClr val="566773"/>
                </a:solidFill>
                <a:latin typeface="Arial"/>
                <a:ea typeface="Arial"/>
                <a:cs typeface="Arial"/>
              </a:defRPr>
            </a:pPr>
            <a:r>
              <a:rPr sz="2025" b="0">
                <a:solidFill>
                  <a:srgbClr val="566773"/>
                </a:solidFill>
                <a:latin typeface="Arial"/>
                <a:ea typeface="Arial"/>
                <a:cs typeface="Arial"/>
              </a:rPr>
              <a:t>Train Elastic Net logistic regression</a:t>
            </a:r>
          </a:p>
          <a:p xmlns:a="http://schemas.openxmlformats.org/drawingml/2006/main">
            <a:r>
              <a:t/>
            </a:r>
          </a:p>
          <a:p xmlns:a="http://schemas.openxmlformats.org/drawingml/2006/main">
            <a:pPr>
              <a:defRPr sz="2025" b="0">
                <a:solidFill>
                  <a:srgbClr val="566773"/>
                </a:solidFill>
                <a:latin typeface="Arial"/>
                <a:ea typeface="Arial"/>
                <a:cs typeface="Arial"/>
              </a:defRPr>
            </a:pPr>
            <a:r>
              <a:rPr sz="2025" b="0">
                <a:solidFill>
                  <a:srgbClr val="566773"/>
                </a:solidFill>
                <a:latin typeface="Arial"/>
                <a:ea typeface="Arial"/>
                <a:cs typeface="Arial"/>
              </a:rPr>
              <a:t>Evaluate predictions</a:t>
            </a:r>
          </a:p>
        </p:txBody>
      </p:sp>
      <p:sp>
        <p:nvSpPr>
          <p:cNvPr id="21" name="">
            <a:extLst xmlns:a="http://schemas.openxmlformats.org/drawingml/2006/main">
              <a:ext uri="{FF2B5EF4-FFF2-40B4-BE49-F238E27FC236}">
                <a16:creationId xmlns:a16="http://schemas.microsoft.com/office/drawing/2014/main" id="{C9B34562-84EC-4BCE-A2B3-96A7419292ED}"/>
              </a:ext>
            </a:extLst>
          </p:cNvPr>
          <p:cNvSpPr>
            <a:spLocks xmlns:a="http://schemas.openxmlformats.org/drawingml/2006/main" noGrp="1"/>
          </p:cNvSpPr>
          <p:nvPr/>
        </p:nvSpPr>
        <p:spPr>
          <a:xfrm xmlns:a="http://schemas.openxmlformats.org/drawingml/2006/main">
            <a:off x="7858125" y="5743575"/>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B79"/>
                </a:solidFill>
                <a:latin typeface="Arial"/>
                <a:ea typeface="Arial"/>
                <a:cs typeface="Arial"/>
              </a:defRPr>
            </a:pPr>
            <a:r>
              <a:rPr sz="1875" b="1">
                <a:solidFill>
                  <a:srgbClr val="167B79"/>
                </a:solidFill>
                <a:latin typeface="Arial"/>
                <a:ea typeface="Arial"/>
                <a:cs typeface="Arial"/>
              </a:rPr>
              <a:t>Current stopping point: EDA</a:t>
            </a:r>
          </a:p>
        </p:txBody>
      </p:sp>
    </p:spTree>
    <p:extLst>
      <p:ext uri="{BB962C8B-B14F-4D97-AF65-F5344CB8AC3E}">
        <p14:creationId xmlns:p14="http://schemas.microsoft.com/office/powerpoint/2010/main" val="193497565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1DF6E9-E79C-4A60-9420-45E9284F2F3C}"/>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3344"/>
                </a:solidFill>
                <a:latin typeface="Arial"/>
                <a:ea typeface="Arial"/>
                <a:cs typeface="Arial"/>
              </a:defRPr>
            </a:pPr>
            <a:r>
              <a:rPr sz="3300" b="1">
                <a:solidFill>
                  <a:srgbClr val="153344"/>
                </a:solidFill>
                <a:latin typeface="Arial"/>
                <a:ea typeface="Arial"/>
                <a:cs typeface="Arial"/>
              </a:rPr>
              <a:t>Data cleaning and preprocessing</a:t>
            </a:r>
          </a:p>
        </p:txBody>
      </p:sp>
      <p:sp>
        <p:nvSpPr>
          <p:cNvPr id="2" name="">
            <a:extLst xmlns:a="http://schemas.openxmlformats.org/drawingml/2006/main">
              <a:ext uri="{FF2B5EF4-FFF2-40B4-BE49-F238E27FC236}">
                <a16:creationId xmlns:a16="http://schemas.microsoft.com/office/drawing/2014/main" id="{A7DE0E4A-C06C-421B-AFD7-C35E30A0D11B}"/>
              </a:ext>
            </a:extLst>
          </p:cNvPr>
          <p:cNvSpPr>
            <a:spLocks xmlns:a="http://schemas.openxmlformats.org/drawingml/2006/main" noGrp="1"/>
          </p:cNvSpPr>
          <p:nvPr/>
        </p:nvSpPr>
        <p:spPr>
          <a:xfrm xmlns:a="http://schemas.openxmlformats.org/drawingml/2006/main">
            <a:off x="11125200" y="63912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rial"/>
                <a:ea typeface="Arial"/>
                <a:cs typeface="Arial"/>
              </a:defRPr>
            </a:pPr>
            <a:r>
              <a:rPr sz="1350" b="0">
                <a:solidFill>
                  <a:srgbClr val="56677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14C6FE5-ED98-41ED-B9FE-BF2270892584}"/>
              </a:ext>
            </a:extLst>
          </p:cNvPr>
          <p:cNvSpPr>
            <a:spLocks xmlns:a="http://schemas.openxmlformats.org/drawingml/2006/main" noGrp="1"/>
          </p:cNvSpPr>
          <p:nvPr/>
        </p:nvSpPr>
        <p:spPr>
          <a:xfrm xmlns:a="http://schemas.openxmlformats.org/drawingml/2006/main">
            <a:off x="666750" y="13716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Missing total charges</a:t>
            </a:r>
          </a:p>
        </p:txBody>
      </p:sp>
      <p:sp>
        <p:nvSpPr>
          <p:cNvPr id="4" name="">
            <a:extLst xmlns:a="http://schemas.openxmlformats.org/drawingml/2006/main">
              <a:ext uri="{FF2B5EF4-FFF2-40B4-BE49-F238E27FC236}">
                <a16:creationId xmlns:a16="http://schemas.microsoft.com/office/drawing/2014/main" id="{307242A1-C2A2-4D00-90A1-D02A0384AB5D}"/>
              </a:ext>
            </a:extLst>
          </p:cNvPr>
          <p:cNvSpPr>
            <a:spLocks xmlns:a="http://schemas.openxmlformats.org/drawingml/2006/main" noGrp="1"/>
          </p:cNvSpPr>
          <p:nvPr/>
        </p:nvSpPr>
        <p:spPr>
          <a:xfrm xmlns:a="http://schemas.openxmlformats.org/drawingml/2006/main">
            <a:off x="4810125" y="1371600"/>
            <a:ext cx="671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344"/>
                </a:solidFill>
                <a:latin typeface="Arial"/>
                <a:ea typeface="Arial"/>
                <a:cs typeface="Arial"/>
              </a:defRPr>
            </a:pPr>
            <a:r>
              <a:rPr sz="2025" b="0">
                <a:solidFill>
                  <a:srgbClr val="153344"/>
                </a:solidFill>
                <a:latin typeface="Arial"/>
                <a:ea typeface="Arial"/>
                <a:cs typeface="Arial"/>
              </a:rPr>
              <a:t>Impute blank TotalCharges using tenure × MonthlyCharges.</a:t>
            </a:r>
          </a:p>
        </p:txBody>
      </p:sp>
      <p:sp>
        <p:nvSpPr>
          <p:cNvPr id="5" name="">
            <a:extLst xmlns:a="http://schemas.openxmlformats.org/drawingml/2006/main">
              <a:ext uri="{FF2B5EF4-FFF2-40B4-BE49-F238E27FC236}">
                <a16:creationId xmlns:a16="http://schemas.microsoft.com/office/drawing/2014/main" id="{6A9B2135-DD33-4BDC-9960-829902FF0331}"/>
              </a:ext>
            </a:extLst>
          </p:cNvPr>
          <p:cNvSpPr>
            <a:spLocks xmlns:a="http://schemas.openxmlformats.org/drawingml/2006/main" noGrp="1"/>
          </p:cNvSpPr>
          <p:nvPr/>
        </p:nvSpPr>
        <p:spPr>
          <a:xfrm xmlns:a="http://schemas.openxmlformats.org/drawingml/2006/main">
            <a:off x="666750" y="22288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Categorical encoding</a:t>
            </a:r>
          </a:p>
        </p:txBody>
      </p:sp>
      <p:sp>
        <p:nvSpPr>
          <p:cNvPr id="6" name="">
            <a:extLst xmlns:a="http://schemas.openxmlformats.org/drawingml/2006/main">
              <a:ext uri="{FF2B5EF4-FFF2-40B4-BE49-F238E27FC236}">
                <a16:creationId xmlns:a16="http://schemas.microsoft.com/office/drawing/2014/main" id="{ABE1B86F-9323-47F4-9CCB-9724F6CC97FD}"/>
              </a:ext>
            </a:extLst>
          </p:cNvPr>
          <p:cNvSpPr>
            <a:spLocks xmlns:a="http://schemas.openxmlformats.org/drawingml/2006/main" noGrp="1"/>
          </p:cNvSpPr>
          <p:nvPr/>
        </p:nvSpPr>
        <p:spPr>
          <a:xfrm xmlns:a="http://schemas.openxmlformats.org/drawingml/2006/main">
            <a:off x="4810125" y="2228850"/>
            <a:ext cx="671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344"/>
                </a:solidFill>
                <a:latin typeface="Arial"/>
                <a:ea typeface="Arial"/>
                <a:cs typeface="Arial"/>
              </a:defRPr>
            </a:pPr>
            <a:r>
              <a:rPr sz="2025" b="0">
                <a:solidFill>
                  <a:srgbClr val="153344"/>
                </a:solidFill>
                <a:latin typeface="Arial"/>
                <a:ea typeface="Arial"/>
                <a:cs typeface="Arial"/>
              </a:rPr>
              <a:t>One-hot encode contract type, payment method and internet service.</a:t>
            </a:r>
          </a:p>
        </p:txBody>
      </p:sp>
      <p:sp>
        <p:nvSpPr>
          <p:cNvPr id="7" name="">
            <a:extLst xmlns:a="http://schemas.openxmlformats.org/drawingml/2006/main">
              <a:ext uri="{FF2B5EF4-FFF2-40B4-BE49-F238E27FC236}">
                <a16:creationId xmlns:a16="http://schemas.microsoft.com/office/drawing/2014/main" id="{0583302E-F3AA-4E46-A329-5B3C0D046E3F}"/>
              </a:ext>
            </a:extLst>
          </p:cNvPr>
          <p:cNvSpPr>
            <a:spLocks xmlns:a="http://schemas.openxmlformats.org/drawingml/2006/main" noGrp="1"/>
          </p:cNvSpPr>
          <p:nvPr/>
        </p:nvSpPr>
        <p:spPr>
          <a:xfrm xmlns:a="http://schemas.openxmlformats.org/drawingml/2006/main">
            <a:off x="666750" y="30861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Duplicate records</a:t>
            </a:r>
          </a:p>
        </p:txBody>
      </p:sp>
      <p:sp>
        <p:nvSpPr>
          <p:cNvPr id="8" name="">
            <a:extLst xmlns:a="http://schemas.openxmlformats.org/drawingml/2006/main">
              <a:ext uri="{FF2B5EF4-FFF2-40B4-BE49-F238E27FC236}">
                <a16:creationId xmlns:a16="http://schemas.microsoft.com/office/drawing/2014/main" id="{8B629CDA-AD86-4EA2-8F22-1106782E2C20}"/>
              </a:ext>
            </a:extLst>
          </p:cNvPr>
          <p:cNvSpPr>
            <a:spLocks xmlns:a="http://schemas.openxmlformats.org/drawingml/2006/main" noGrp="1"/>
          </p:cNvSpPr>
          <p:nvPr/>
        </p:nvSpPr>
        <p:spPr>
          <a:xfrm xmlns:a="http://schemas.openxmlformats.org/drawingml/2006/main">
            <a:off x="4810125" y="3086100"/>
            <a:ext cx="671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344"/>
                </a:solidFill>
                <a:latin typeface="Arial"/>
                <a:ea typeface="Arial"/>
                <a:cs typeface="Arial"/>
              </a:defRPr>
            </a:pPr>
            <a:r>
              <a:rPr sz="2025" b="0">
                <a:solidFill>
                  <a:srgbClr val="153344"/>
                </a:solidFill>
                <a:latin typeface="Arial"/>
                <a:ea typeface="Arial"/>
                <a:cs typeface="Arial"/>
              </a:rPr>
              <a:t>Preserve repeated customer IDs and identical-looking rows for review.</a:t>
            </a:r>
          </a:p>
        </p:txBody>
      </p:sp>
      <p:sp>
        <p:nvSpPr>
          <p:cNvPr id="9" name="">
            <a:extLst xmlns:a="http://schemas.openxmlformats.org/drawingml/2006/main">
              <a:ext uri="{FF2B5EF4-FFF2-40B4-BE49-F238E27FC236}">
                <a16:creationId xmlns:a16="http://schemas.microsoft.com/office/drawing/2014/main" id="{4289E3F3-B100-49A7-87DD-12B59C7BE07E}"/>
              </a:ext>
            </a:extLst>
          </p:cNvPr>
          <p:cNvSpPr>
            <a:spLocks xmlns:a="http://schemas.openxmlformats.org/drawingml/2006/main" noGrp="1"/>
          </p:cNvSpPr>
          <p:nvPr/>
        </p:nvSpPr>
        <p:spPr>
          <a:xfrm xmlns:a="http://schemas.openxmlformats.org/drawingml/2006/main">
            <a:off x="666750" y="39433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Active customers</a:t>
            </a:r>
          </a:p>
        </p:txBody>
      </p:sp>
      <p:sp>
        <p:nvSpPr>
          <p:cNvPr id="10" name="">
            <a:extLst xmlns:a="http://schemas.openxmlformats.org/drawingml/2006/main">
              <a:ext uri="{FF2B5EF4-FFF2-40B4-BE49-F238E27FC236}">
                <a16:creationId xmlns:a16="http://schemas.microsoft.com/office/drawing/2014/main" id="{C6A3BE0A-3003-4F0D-A8C0-775AAA9B052D}"/>
              </a:ext>
            </a:extLst>
          </p:cNvPr>
          <p:cNvSpPr>
            <a:spLocks xmlns:a="http://schemas.openxmlformats.org/drawingml/2006/main" noGrp="1"/>
          </p:cNvSpPr>
          <p:nvPr/>
        </p:nvSpPr>
        <p:spPr>
          <a:xfrm xmlns:a="http://schemas.openxmlformats.org/drawingml/2006/main">
            <a:off x="4810125" y="3943350"/>
            <a:ext cx="671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344"/>
                </a:solidFill>
                <a:latin typeface="Arial"/>
                <a:ea typeface="Arial"/>
                <a:cs typeface="Arial"/>
              </a:defRPr>
            </a:pPr>
            <a:r>
              <a:rPr sz="2025" b="0">
                <a:solidFill>
                  <a:srgbClr val="153344"/>
                </a:solidFill>
                <a:latin typeface="Arial"/>
                <a:ea typeface="Arial"/>
                <a:cs typeface="Arial"/>
              </a:rPr>
              <a:t>Use customers with valid tenure records. Keep 11 incomplete rows separate.</a:t>
            </a:r>
          </a:p>
        </p:txBody>
      </p:sp>
      <p:sp>
        <p:nvSpPr>
          <p:cNvPr id="11" name="">
            <a:extLst xmlns:a="http://schemas.openxmlformats.org/drawingml/2006/main">
              <a:ext uri="{FF2B5EF4-FFF2-40B4-BE49-F238E27FC236}">
                <a16:creationId xmlns:a16="http://schemas.microsoft.com/office/drawing/2014/main" id="{56E7D8D4-EA0B-469C-A295-39CBB2D2F9AF}"/>
              </a:ext>
            </a:extLst>
          </p:cNvPr>
          <p:cNvSpPr>
            <a:spLocks xmlns:a="http://schemas.openxmlformats.org/drawingml/2006/main" noGrp="1"/>
          </p:cNvSpPr>
          <p:nvPr/>
        </p:nvSpPr>
        <p:spPr>
          <a:xfrm xmlns:a="http://schemas.openxmlformats.org/drawingml/2006/main">
            <a:off x="666750" y="48006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B79"/>
                </a:solidFill>
                <a:latin typeface="Arial"/>
                <a:ea typeface="Arial"/>
                <a:cs typeface="Arial"/>
              </a:defRPr>
            </a:pPr>
            <a:r>
              <a:rPr sz="2100" b="1">
                <a:solidFill>
                  <a:srgbClr val="167B79"/>
                </a:solidFill>
                <a:latin typeface="Arial"/>
                <a:ea typeface="Arial"/>
                <a:cs typeface="Arial"/>
              </a:rPr>
              <a:t>Feature scaling</a:t>
            </a:r>
          </a:p>
        </p:txBody>
      </p:sp>
      <p:sp>
        <p:nvSpPr>
          <p:cNvPr id="12" name="">
            <a:extLst xmlns:a="http://schemas.openxmlformats.org/drawingml/2006/main">
              <a:ext uri="{FF2B5EF4-FFF2-40B4-BE49-F238E27FC236}">
                <a16:creationId xmlns:a16="http://schemas.microsoft.com/office/drawing/2014/main" id="{9377F031-5C58-4766-89E6-3A34A9780DCD}"/>
              </a:ext>
            </a:extLst>
          </p:cNvPr>
          <p:cNvSpPr>
            <a:spLocks xmlns:a="http://schemas.openxmlformats.org/drawingml/2006/main" noGrp="1"/>
          </p:cNvSpPr>
          <p:nvPr/>
        </p:nvSpPr>
        <p:spPr>
          <a:xfrm xmlns:a="http://schemas.openxmlformats.org/drawingml/2006/main">
            <a:off x="4810125" y="4800600"/>
            <a:ext cx="671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344"/>
                </a:solidFill>
                <a:latin typeface="Arial"/>
                <a:ea typeface="Arial"/>
                <a:cs typeface="Arial"/>
              </a:defRPr>
            </a:pPr>
            <a:r>
              <a:rPr sz="2025" b="0">
                <a:solidFill>
                  <a:srgbClr val="153344"/>
                </a:solidFill>
                <a:latin typeface="Arial"/>
                <a:ea typeface="Arial"/>
                <a:cs typeface="Arial"/>
              </a:rPr>
              <a:t>Standardize numeric features such as tenure and charges.</a:t>
            </a:r>
          </a:p>
        </p:txBody>
      </p:sp>
      <p:sp>
        <p:nvSpPr>
          <p:cNvPr id="13" name="">
            <a:extLst xmlns:a="http://schemas.openxmlformats.org/drawingml/2006/main">
              <a:ext uri="{FF2B5EF4-FFF2-40B4-BE49-F238E27FC236}">
                <a16:creationId xmlns:a16="http://schemas.microsoft.com/office/drawing/2014/main" id="{F8ADC7EC-1754-4509-A62F-43C92180AB10}"/>
              </a:ext>
            </a:extLst>
          </p:cNvPr>
          <p:cNvSpPr>
            <a:spLocks xmlns:a="http://schemas.openxmlformats.org/drawingml/2006/main" noGrp="1"/>
          </p:cNvSpPr>
          <p:nvPr/>
        </p:nvSpPr>
        <p:spPr>
          <a:xfrm xmlns:a="http://schemas.openxmlformats.org/drawingml/2006/main">
            <a:off x="666750" y="59912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344"/>
                </a:solidFill>
                <a:latin typeface="Arial"/>
                <a:ea typeface="Arial"/>
                <a:cs typeface="Arial"/>
              </a:defRPr>
            </a:pPr>
            <a:r>
              <a:rPr sz="1800" b="1">
                <a:solidFill>
                  <a:srgbClr val="153344"/>
                </a:solidFill>
                <a:latin typeface="Arial"/>
                <a:ea typeface="Arial"/>
                <a:cs typeface="Arial"/>
              </a:rPr>
              <a:t>Output: 7,032 valid customer records. Model tuning and evaluation remain future work.</a:t>
            </a:r>
          </a:p>
        </p:txBody>
      </p:sp>
    </p:spTree>
    <p:extLst>
      <p:ext uri="{BB962C8B-B14F-4D97-AF65-F5344CB8AC3E}">
        <p14:creationId xmlns:p14="http://schemas.microsoft.com/office/powerpoint/2010/main" val="694121244"/>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78A592-7EA5-43E2-9958-59BDD116073A}"/>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3344"/>
                </a:solidFill>
                <a:latin typeface="Arial"/>
                <a:ea typeface="Arial"/>
                <a:cs typeface="Arial"/>
              </a:defRPr>
            </a:pPr>
            <a:r>
              <a:rPr sz="3300" b="1">
                <a:solidFill>
                  <a:srgbClr val="153344"/>
                </a:solidFill>
                <a:latin typeface="Arial"/>
                <a:ea typeface="Arial"/>
                <a:cs typeface="Arial"/>
              </a:rPr>
              <a:t>Exploratory data analysis</a:t>
            </a:r>
          </a:p>
        </p:txBody>
      </p:sp>
      <p:sp>
        <p:nvSpPr>
          <p:cNvPr id="2" name="">
            <a:extLst xmlns:a="http://schemas.openxmlformats.org/drawingml/2006/main">
              <a:ext uri="{FF2B5EF4-FFF2-40B4-BE49-F238E27FC236}">
                <a16:creationId xmlns:a16="http://schemas.microsoft.com/office/drawing/2014/main" id="{5E333CAC-4A45-4E86-9EBC-04B5893AE4AD}"/>
              </a:ext>
            </a:extLst>
          </p:cNvPr>
          <p:cNvSpPr>
            <a:spLocks xmlns:a="http://schemas.openxmlformats.org/drawingml/2006/main" noGrp="1"/>
          </p:cNvSpPr>
          <p:nvPr/>
        </p:nvSpPr>
        <p:spPr>
          <a:xfrm xmlns:a="http://schemas.openxmlformats.org/drawingml/2006/main">
            <a:off x="11125200" y="63912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rial"/>
                <a:ea typeface="Arial"/>
                <a:cs typeface="Arial"/>
              </a:defRPr>
            </a:pPr>
            <a:r>
              <a:rPr sz="1350" b="0">
                <a:solidFill>
                  <a:srgbClr val="566773"/>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1080850-9462-4111-BC57-92332BFE7ECF}"/>
              </a:ext>
            </a:extLst>
          </p:cNvPr>
          <p:cNvSpPr>
            <a:spLocks xmlns:a="http://schemas.openxmlformats.org/drawingml/2006/main" noGrp="1"/>
          </p:cNvSpPr>
          <p:nvPr/>
        </p:nvSpPr>
        <p:spPr>
          <a:xfrm xmlns:a="http://schemas.openxmlformats.org/drawingml/2006/main">
            <a:off x="666750" y="1323975"/>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7B79"/>
                </a:solidFill>
                <a:latin typeface="Arial"/>
                <a:ea typeface="Arial"/>
                <a:cs typeface="Arial"/>
              </a:defRPr>
            </a:pPr>
            <a:r>
              <a:rPr sz="2325" b="1">
                <a:solidFill>
                  <a:srgbClr val="167B79"/>
                </a:solidFill>
                <a:latin typeface="Arial"/>
                <a:ea typeface="Arial"/>
                <a:cs typeface="Arial"/>
              </a:rPr>
              <a:t>Customer tenure distribution</a:t>
            </a:r>
          </a:p>
        </p:txBody>
      </p:sp>
      <p:graphicFrame>
        <p:nvGraphicFramePr>
          <p:cNvPr id="15" name="Chart"/>
          <p:cNvGraphicFramePr/>
          <p:nvPr/>
        </p:nvGraphicFramePr>
        <p:xfrm>
          <a:off xmlns:a="http://schemas.openxmlformats.org/drawingml/2006/main" x="628650" y="1924050"/>
          <a:ext xmlns:a="http://schemas.openxmlformats.org/drawingml/2006/main" cx="7581900" cy="3676650"/>
        </p:xfrm>
        <a:graphic xmlns:a="http://schemas.openxmlformats.org/drawingml/2006/main">
          <a:graphicData uri="http://schemas.openxmlformats.org/drawingml/2006/chart">
            <c:chart xmlns:r="http://schemas.openxmlformats.org/officeDocument/2006/relationships" xmlns:c="http://schemas.openxmlformats.org/drawingml/2006/chart" r:id="R332b4910bfde4071"/>
          </a:graphicData>
        </a:graphic>
      </p:graphicFrame>
      <p:sp>
        <p:nvSpPr>
          <p:cNvPr id="5" name="">
            <a:extLst xmlns:a="http://schemas.openxmlformats.org/drawingml/2006/main">
              <a:ext uri="{FF2B5EF4-FFF2-40B4-BE49-F238E27FC236}">
                <a16:creationId xmlns:a16="http://schemas.microsoft.com/office/drawing/2014/main" id="{86005F38-4875-41BE-9BC9-980EAC637BDD}"/>
              </a:ext>
            </a:extLst>
          </p:cNvPr>
          <p:cNvSpPr>
            <a:spLocks xmlns:a="http://schemas.openxmlformats.org/drawingml/2006/main" noGrp="1"/>
          </p:cNvSpPr>
          <p:nvPr/>
        </p:nvSpPr>
        <p:spPr>
          <a:xfrm xmlns:a="http://schemas.openxmlformats.org/drawingml/2006/main">
            <a:off x="8886825" y="1857375"/>
            <a:ext cx="247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344"/>
                </a:solidFill>
                <a:latin typeface="Arial"/>
                <a:ea typeface="Arial"/>
                <a:cs typeface="Arial"/>
              </a:defRPr>
            </a:pPr>
            <a:r>
              <a:rPr sz="3225" b="1">
                <a:solidFill>
                  <a:srgbClr val="153344"/>
                </a:solidFill>
                <a:latin typeface="Arial"/>
                <a:ea typeface="Arial"/>
                <a:cs typeface="Arial"/>
              </a:rPr>
              <a:t>32.4</a:t>
            </a:r>
          </a:p>
        </p:txBody>
      </p:sp>
      <p:sp>
        <p:nvSpPr>
          <p:cNvPr id="6" name="">
            <a:extLst xmlns:a="http://schemas.openxmlformats.org/drawingml/2006/main">
              <a:ext uri="{FF2B5EF4-FFF2-40B4-BE49-F238E27FC236}">
                <a16:creationId xmlns:a16="http://schemas.microsoft.com/office/drawing/2014/main" id="{4B730B8B-5EFC-4AD2-B309-1437E3A34B83}"/>
              </a:ext>
            </a:extLst>
          </p:cNvPr>
          <p:cNvSpPr>
            <a:spLocks xmlns:a="http://schemas.openxmlformats.org/drawingml/2006/main" noGrp="1"/>
          </p:cNvSpPr>
          <p:nvPr/>
        </p:nvSpPr>
        <p:spPr>
          <a:xfrm xmlns:a="http://schemas.openxmlformats.org/drawingml/2006/main">
            <a:off x="8886825" y="2438400"/>
            <a:ext cx="2619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rial"/>
                <a:ea typeface="Arial"/>
                <a:cs typeface="Arial"/>
              </a:defRPr>
            </a:pPr>
            <a:r>
              <a:rPr sz="1800" b="0">
                <a:solidFill>
                  <a:srgbClr val="566773"/>
                </a:solidFill>
                <a:latin typeface="Arial"/>
                <a:ea typeface="Arial"/>
                <a:cs typeface="Arial"/>
              </a:rPr>
              <a:t>Mean tenure (months)</a:t>
            </a:r>
          </a:p>
        </p:txBody>
      </p:sp>
      <p:sp>
        <p:nvSpPr>
          <p:cNvPr id="7" name="">
            <a:extLst xmlns:a="http://schemas.openxmlformats.org/drawingml/2006/main">
              <a:ext uri="{FF2B5EF4-FFF2-40B4-BE49-F238E27FC236}">
                <a16:creationId xmlns:a16="http://schemas.microsoft.com/office/drawing/2014/main" id="{8DB5B636-5CF0-4885-A064-219DF878BCE8}"/>
              </a:ext>
            </a:extLst>
          </p:cNvPr>
          <p:cNvSpPr>
            <a:spLocks xmlns:a="http://schemas.openxmlformats.org/drawingml/2006/main" noGrp="1"/>
          </p:cNvSpPr>
          <p:nvPr/>
        </p:nvSpPr>
        <p:spPr>
          <a:xfrm xmlns:a="http://schemas.openxmlformats.org/drawingml/2006/main">
            <a:off x="8886825" y="3209925"/>
            <a:ext cx="247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344"/>
                </a:solidFill>
                <a:latin typeface="Arial"/>
                <a:ea typeface="Arial"/>
                <a:cs typeface="Arial"/>
              </a:defRPr>
            </a:pPr>
            <a:r>
              <a:rPr sz="3225" b="1">
                <a:solidFill>
                  <a:srgbClr val="153344"/>
                </a:solidFill>
                <a:latin typeface="Arial"/>
                <a:ea typeface="Arial"/>
                <a:cs typeface="Arial"/>
              </a:rPr>
              <a:t>29</a:t>
            </a:r>
          </a:p>
        </p:txBody>
      </p:sp>
      <p:sp>
        <p:nvSpPr>
          <p:cNvPr id="8" name="">
            <a:extLst xmlns:a="http://schemas.openxmlformats.org/drawingml/2006/main">
              <a:ext uri="{FF2B5EF4-FFF2-40B4-BE49-F238E27FC236}">
                <a16:creationId xmlns:a16="http://schemas.microsoft.com/office/drawing/2014/main" id="{9C180AE5-1FAC-45C4-B4A6-EDA77104A597}"/>
              </a:ext>
            </a:extLst>
          </p:cNvPr>
          <p:cNvSpPr>
            <a:spLocks xmlns:a="http://schemas.openxmlformats.org/drawingml/2006/main" noGrp="1"/>
          </p:cNvSpPr>
          <p:nvPr/>
        </p:nvSpPr>
        <p:spPr>
          <a:xfrm xmlns:a="http://schemas.openxmlformats.org/drawingml/2006/main">
            <a:off x="8886825" y="3790950"/>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rial"/>
                <a:ea typeface="Arial"/>
                <a:cs typeface="Arial"/>
              </a:defRPr>
            </a:pPr>
            <a:r>
              <a:rPr sz="1800" b="0">
                <a:solidFill>
                  <a:srgbClr val="566773"/>
                </a:solidFill>
                <a:latin typeface="Arial"/>
                <a:ea typeface="Arial"/>
                <a:cs typeface="Arial"/>
              </a:rPr>
              <a:t>Median tenure</a:t>
            </a:r>
          </a:p>
        </p:txBody>
      </p:sp>
      <p:sp>
        <p:nvSpPr>
          <p:cNvPr id="9" name="">
            <a:extLst xmlns:a="http://schemas.openxmlformats.org/drawingml/2006/main">
              <a:ext uri="{FF2B5EF4-FFF2-40B4-BE49-F238E27FC236}">
                <a16:creationId xmlns:a16="http://schemas.microsoft.com/office/drawing/2014/main" id="{A40A89DF-E164-4F14-800D-9633A3E5364F}"/>
              </a:ext>
            </a:extLst>
          </p:cNvPr>
          <p:cNvSpPr>
            <a:spLocks xmlns:a="http://schemas.openxmlformats.org/drawingml/2006/main" noGrp="1"/>
          </p:cNvSpPr>
          <p:nvPr/>
        </p:nvSpPr>
        <p:spPr>
          <a:xfrm xmlns:a="http://schemas.openxmlformats.org/drawingml/2006/main">
            <a:off x="8886825" y="4524375"/>
            <a:ext cx="247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344"/>
                </a:solidFill>
                <a:latin typeface="Arial"/>
                <a:ea typeface="Arial"/>
                <a:cs typeface="Arial"/>
              </a:defRPr>
            </a:pPr>
            <a:r>
              <a:rPr sz="3225" b="1">
                <a:solidFill>
                  <a:srgbClr val="153344"/>
                </a:solidFill>
                <a:latin typeface="Arial"/>
                <a:ea typeface="Arial"/>
                <a:cs typeface="Arial"/>
              </a:rPr>
              <a:t>26.6%</a:t>
            </a:r>
          </a:p>
        </p:txBody>
      </p:sp>
      <p:sp>
        <p:nvSpPr>
          <p:cNvPr id="10" name="">
            <a:extLst xmlns:a="http://schemas.openxmlformats.org/drawingml/2006/main">
              <a:ext uri="{FF2B5EF4-FFF2-40B4-BE49-F238E27FC236}">
                <a16:creationId xmlns:a16="http://schemas.microsoft.com/office/drawing/2014/main" id="{D83BB57C-6B38-4D91-B552-B96034CF16A7}"/>
              </a:ext>
            </a:extLst>
          </p:cNvPr>
          <p:cNvSpPr>
            <a:spLocks xmlns:a="http://schemas.openxmlformats.org/drawingml/2006/main" noGrp="1"/>
          </p:cNvSpPr>
          <p:nvPr/>
        </p:nvSpPr>
        <p:spPr>
          <a:xfrm xmlns:a="http://schemas.openxmlformats.org/drawingml/2006/main">
            <a:off x="8886825" y="5105400"/>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rial"/>
                <a:ea typeface="Arial"/>
                <a:cs typeface="Arial"/>
              </a:defRPr>
            </a:pPr>
            <a:r>
              <a:rPr sz="1800" b="0">
                <a:solidFill>
                  <a:srgbClr val="566773"/>
                </a:solidFill>
                <a:latin typeface="Arial"/>
                <a:ea typeface="Arial"/>
                <a:cs typeface="Arial"/>
              </a:rPr>
              <a:t>Overall churn rate</a:t>
            </a:r>
          </a:p>
        </p:txBody>
      </p:sp>
      <p:sp>
        <p:nvSpPr>
          <p:cNvPr id="11" name="">
            <a:extLst xmlns:a="http://schemas.openxmlformats.org/drawingml/2006/main">
              <a:ext uri="{FF2B5EF4-FFF2-40B4-BE49-F238E27FC236}">
                <a16:creationId xmlns:a16="http://schemas.microsoft.com/office/drawing/2014/main" id="{9A230D38-6043-43A9-AC62-E2160E1619C6}"/>
              </a:ext>
            </a:extLst>
          </p:cNvPr>
          <p:cNvSpPr>
            <a:spLocks xmlns:a="http://schemas.openxmlformats.org/drawingml/2006/main" noGrp="1"/>
          </p:cNvSpPr>
          <p:nvPr/>
        </p:nvSpPr>
        <p:spPr>
          <a:xfrm xmlns:a="http://schemas.openxmlformats.org/drawingml/2006/main">
            <a:off x="666750" y="5838825"/>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344"/>
                </a:solidFill>
                <a:latin typeface="Arial"/>
                <a:ea typeface="Arial"/>
                <a:cs typeface="Arial"/>
              </a:defRPr>
            </a:pPr>
            <a:r>
              <a:rPr sz="1875" b="0">
                <a:solidFill>
                  <a:srgbClr val="153344"/>
                </a:solidFill>
                <a:latin typeface="Arial"/>
                <a:ea typeface="Arial"/>
                <a:cs typeface="Arial"/>
              </a:rPr>
              <a:t>Tenure is U-shaped across customers. Shorter tenure is strongly associated with higher churn.</a:t>
            </a:r>
          </a:p>
        </p:txBody>
      </p:sp>
    </p:spTree>
    <p:extLst>
      <p:ext uri="{BB962C8B-B14F-4D97-AF65-F5344CB8AC3E}">
        <p14:creationId xmlns:p14="http://schemas.microsoft.com/office/powerpoint/2010/main" val="1559182605"/>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0F21D5-4C07-4FC2-8520-4D34B63CC1A9}"/>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3344"/>
                </a:solidFill>
                <a:latin typeface="Arial"/>
                <a:ea typeface="Arial"/>
                <a:cs typeface="Arial"/>
              </a:defRPr>
            </a:pPr>
            <a:r>
              <a:rPr sz="3300" b="1">
                <a:solidFill>
                  <a:srgbClr val="153344"/>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1C937598-817A-484B-850C-2CCB72609F4B}"/>
              </a:ext>
            </a:extLst>
          </p:cNvPr>
          <p:cNvSpPr>
            <a:spLocks xmlns:a="http://schemas.openxmlformats.org/drawingml/2006/main" noGrp="1"/>
          </p:cNvSpPr>
          <p:nvPr/>
        </p:nvSpPr>
        <p:spPr>
          <a:xfrm xmlns:a="http://schemas.openxmlformats.org/drawingml/2006/main">
            <a:off x="11125200" y="63912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rial"/>
                <a:ea typeface="Arial"/>
                <a:cs typeface="Arial"/>
              </a:defRPr>
            </a:pPr>
            <a:r>
              <a:rPr sz="1350" b="0">
                <a:solidFill>
                  <a:srgbClr val="566773"/>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59055EA-1A53-4EF1-9DD2-D1C5EAA0F527}"/>
              </a:ext>
            </a:extLst>
          </p:cNvPr>
          <p:cNvSpPr>
            <a:spLocks xmlns:a="http://schemas.openxmlformats.org/drawingml/2006/main" noGrp="1"/>
          </p:cNvSpPr>
          <p:nvPr/>
        </p:nvSpPr>
        <p:spPr>
          <a:xfrm xmlns:a="http://schemas.openxmlformats.org/drawingml/2006/main">
            <a:off x="666750" y="1390650"/>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B79"/>
                </a:solidFill>
                <a:latin typeface="Arial"/>
                <a:ea typeface="Arial"/>
                <a:cs typeface="Arial"/>
              </a:defRPr>
            </a:pPr>
            <a:r>
              <a:rPr sz="2700" b="1">
                <a:solidFill>
                  <a:srgbClr val="167B79"/>
                </a:solidFill>
                <a:latin typeface="Arial"/>
                <a:ea typeface="Arial"/>
                <a:cs typeface="Arial"/>
              </a:rPr>
              <a:t>The dataset supports a customer churn classification project</a:t>
            </a:r>
          </a:p>
        </p:txBody>
      </p:sp>
      <p:sp>
        <p:nvSpPr>
          <p:cNvPr id="4" name="">
            <a:extLst xmlns:a="http://schemas.openxmlformats.org/drawingml/2006/main">
              <a:ext uri="{FF2B5EF4-FFF2-40B4-BE49-F238E27FC236}">
                <a16:creationId xmlns:a16="http://schemas.microsoft.com/office/drawing/2014/main" id="{637A3E69-1D27-456E-9B49-46DC77DC99AB}"/>
              </a:ext>
            </a:extLst>
          </p:cNvPr>
          <p:cNvSpPr>
            <a:spLocks xmlns:a="http://schemas.openxmlformats.org/drawingml/2006/main" noGrp="1"/>
          </p:cNvSpPr>
          <p:nvPr/>
        </p:nvSpPr>
        <p:spPr>
          <a:xfrm xmlns:a="http://schemas.openxmlformats.org/drawingml/2006/main">
            <a:off x="666750" y="2590800"/>
            <a:ext cx="1062037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We completed data understanding, initial preparation and EDA.</a:t>
            </a:r>
          </a:p>
          <a:p xmlns:a="http://schemas.openxmlformats.org/drawingml/2006/main">
            <a:r>
              <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The customer table preserves valid tenure records and separates categorical from numeric features.</a:t>
            </a:r>
          </a:p>
          <a:p xmlns:a="http://schemas.openxmlformats.org/drawingml/2006/main">
            <a:r>
              <a:t/>
            </a:r>
          </a:p>
          <a:p xmlns:a="http://schemas.openxmlformats.org/drawingml/2006/main">
            <a:pPr>
              <a:defRPr sz="2175" b="0">
                <a:solidFill>
                  <a:srgbClr val="153344"/>
                </a:solidFill>
                <a:latin typeface="Arial"/>
                <a:ea typeface="Arial"/>
                <a:cs typeface="Arial"/>
              </a:defRPr>
            </a:pPr>
            <a:r>
              <a:rPr sz="2175" b="0">
                <a:solidFill>
                  <a:srgbClr val="153344"/>
                </a:solidFill>
                <a:latin typeface="Arial"/>
                <a:ea typeface="Arial"/>
                <a:cs typeface="Arial"/>
              </a:rPr>
              <a:t>The EDA shows skewed monthly charges and a strong relationship between tenure and churn.</a:t>
            </a:r>
          </a:p>
        </p:txBody>
      </p:sp>
      <p:sp>
        <p:nvSpPr>
          <p:cNvPr id="5" name="">
            <a:extLst xmlns:a="http://schemas.openxmlformats.org/drawingml/2006/main">
              <a:ext uri="{FF2B5EF4-FFF2-40B4-BE49-F238E27FC236}">
                <a16:creationId xmlns:a16="http://schemas.microsoft.com/office/drawing/2014/main" id="{2505446A-5F33-441E-A84F-703C907890E8}"/>
              </a:ext>
            </a:extLst>
          </p:cNvPr>
          <p:cNvSpPr>
            <a:spLocks xmlns:a="http://schemas.openxmlformats.org/drawingml/2006/main" noGrp="1"/>
          </p:cNvSpPr>
          <p:nvPr/>
        </p:nvSpPr>
        <p:spPr>
          <a:xfrm xmlns:a="http://schemas.openxmlformats.org/drawingml/2006/main">
            <a:off x="666750" y="5343525"/>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B79"/>
                </a:solidFill>
                <a:latin typeface="Arial"/>
                <a:ea typeface="Arial"/>
                <a:cs typeface="Arial"/>
              </a:defRPr>
            </a:pPr>
            <a:r>
              <a:rPr sz="2250" b="1">
                <a:solidFill>
                  <a:srgbClr val="167B79"/>
                </a:solidFill>
                <a:latin typeface="Arial"/>
                <a:ea typeface="Arial"/>
                <a:cs typeface="Arial"/>
              </a:rPr>
              <a:t>Next step</a:t>
            </a:r>
          </a:p>
        </p:txBody>
      </p:sp>
      <p:sp>
        <p:nvSpPr>
          <p:cNvPr id="6" name="">
            <a:extLst xmlns:a="http://schemas.openxmlformats.org/drawingml/2006/main">
              <a:ext uri="{FF2B5EF4-FFF2-40B4-BE49-F238E27FC236}">
                <a16:creationId xmlns:a16="http://schemas.microsoft.com/office/drawing/2014/main" id="{08074830-66BA-4C9F-9B1A-2554636E6034}"/>
              </a:ext>
            </a:extLst>
          </p:cNvPr>
          <p:cNvSpPr>
            <a:spLocks xmlns:a="http://schemas.openxmlformats.org/drawingml/2006/main" noGrp="1"/>
          </p:cNvSpPr>
          <p:nvPr/>
        </p:nvSpPr>
        <p:spPr>
          <a:xfrm xmlns:a="http://schemas.openxmlformats.org/drawingml/2006/main">
            <a:off x="3238500" y="5295900"/>
            <a:ext cx="8058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3344"/>
                </a:solidFill>
                <a:latin typeface="Arial"/>
                <a:ea typeface="Arial"/>
                <a:cs typeface="Arial"/>
              </a:defRPr>
            </a:pPr>
            <a:r>
              <a:rPr sz="2100" b="0">
                <a:solidFill>
                  <a:srgbClr val="153344"/>
                </a:solidFill>
                <a:latin typeface="Arial"/>
                <a:ea typeface="Arial"/>
                <a:cs typeface="Arial"/>
              </a:rPr>
              <a:t>Engineer customer features, then train and evaluate Elastic Net regularized logistic regression using a held-out test set.</a:t>
            </a:r>
          </a:p>
        </p:txBody>
      </p:sp>
    </p:spTree>
    <p:extLst>
      <p:ext uri="{BB962C8B-B14F-4D97-AF65-F5344CB8AC3E}">
        <p14:creationId xmlns:p14="http://schemas.microsoft.com/office/powerpoint/2010/main" val="19535710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2026-09-18T00:58:16.5030000Z</dcterms:created>
  <dcterms:modified xsi:type="dcterms:W3CDTF">2026-09-18T00:58:16.5030000Z</dcterms:modified>
</coreProperties>
</file>